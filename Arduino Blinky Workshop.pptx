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3" d="100"/>
          <a:sy n="103" d="100"/>
        </p:scale>
        <p:origin x="874" y="77"/>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39c501ade2c_0_1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9" name="Google Shape;59;g39c501ade2c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
        <p:cNvGrpSpPr/>
        <p:nvPr/>
      </p:nvGrpSpPr>
      <p:grpSpPr>
        <a:xfrm>
          <a:off x="0" y="0"/>
          <a:ext cx="0" cy="0"/>
          <a:chOff x="0" y="0"/>
          <a:chExt cx="0" cy="0"/>
        </a:xfrm>
      </p:grpSpPr>
      <p:sp>
        <p:nvSpPr>
          <p:cNvPr id="65" name="Google Shape;65;g39c501ade2c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 name="Google Shape;66;g39c501ade2c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39c501ade2c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39c501ade2c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
        <p:cNvGrpSpPr/>
        <p:nvPr/>
      </p:nvGrpSpPr>
      <p:grpSpPr>
        <a:xfrm>
          <a:off x="0" y="0"/>
          <a:ext cx="0" cy="0"/>
          <a:chOff x="0" y="0"/>
          <a:chExt cx="0" cy="0"/>
        </a:xfrm>
      </p:grpSpPr>
      <p:sp>
        <p:nvSpPr>
          <p:cNvPr id="78" name="Google Shape;78;g39c501ade2c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 name="Google Shape;79;g39c501ade2c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g39c501ade2c_0_3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 name="Google Shape;85;g39c501ade2c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g39c501ade2c_0_3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 name="Google Shape;92;g39c501ade2c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39c501ade2c_0_4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39c501ade2c_0_4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39c501ade2c_0_4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39c501ade2c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39c501ade2c_0_5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39c501ade2c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9c501ade2c_0_6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9c501ade2c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4"/>
        <p:cNvGrpSpPr/>
        <p:nvPr/>
      </p:nvGrpSpPr>
      <p:grpSpPr>
        <a:xfrm>
          <a:off x="0" y="0"/>
          <a:ext cx="0" cy="0"/>
          <a:chOff x="0" y="0"/>
          <a:chExt cx="0" cy="0"/>
        </a:xfrm>
      </p:grpSpPr>
      <p:sp>
        <p:nvSpPr>
          <p:cNvPr id="125" name="Google Shape;125;g39c501ade2c_0_6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6" name="Google Shape;126;g39c501ade2c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g39c501ade2c_0_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3" name="Google Shape;133;g39c501ade2c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39c501ade2c_0_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39c501ade2c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g39c501ade2c_0_10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0" name="Google Shape;160;g39c501ade2c_0_1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39c501ade2c_0_1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39c501ade2c_0_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9c501ade2c_0_1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39c501ade2c_0_1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9c501ade2c_0_128: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 name="Google Shape;184;g39c501ade2c_0_1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39c501ade2c_0_13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39c501ade2c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9"/>
        <p:cNvGrpSpPr/>
        <p:nvPr/>
      </p:nvGrpSpPr>
      <p:grpSpPr>
        <a:xfrm>
          <a:off x="0" y="0"/>
          <a:ext cx="0" cy="0"/>
          <a:chOff x="0" y="0"/>
          <a:chExt cx="0" cy="0"/>
        </a:xfrm>
      </p:grpSpPr>
      <p:sp>
        <p:nvSpPr>
          <p:cNvPr id="200" name="Google Shape;200;g39c501ade2c_0_15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1" name="Google Shape;201;g39c501ade2c_0_15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39c501ade2c_0_146: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39c501ade2c_0_1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7"/>
        <p:cNvGrpSpPr/>
        <p:nvPr/>
      </p:nvGrpSpPr>
      <p:grpSpPr>
        <a:xfrm>
          <a:off x="0" y="0"/>
          <a:ext cx="0" cy="0"/>
          <a:chOff x="0" y="0"/>
          <a:chExt cx="0" cy="0"/>
        </a:xfrm>
      </p:grpSpPr>
      <p:sp>
        <p:nvSpPr>
          <p:cNvPr id="218" name="Google Shape;218;g39c501ade2c_0_16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9" name="Google Shape;219;g39c501ade2c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5"/>
        <p:cNvGrpSpPr/>
        <p:nvPr/>
      </p:nvGrpSpPr>
      <p:grpSpPr>
        <a:xfrm>
          <a:off x="0" y="0"/>
          <a:ext cx="0" cy="0"/>
          <a:chOff x="0" y="0"/>
          <a:chExt cx="0" cy="0"/>
        </a:xfrm>
      </p:grpSpPr>
      <p:sp>
        <p:nvSpPr>
          <p:cNvPr id="226" name="Google Shape;226;g39c501ade2c_0_17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7" name="Google Shape;227;g39c501ade2c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4"/>
        <p:cNvGrpSpPr/>
        <p:nvPr/>
      </p:nvGrpSpPr>
      <p:grpSpPr>
        <a:xfrm>
          <a:off x="0" y="0"/>
          <a:ext cx="0" cy="0"/>
          <a:chOff x="0" y="0"/>
          <a:chExt cx="0" cy="0"/>
        </a:xfrm>
      </p:grpSpPr>
      <p:sp>
        <p:nvSpPr>
          <p:cNvPr id="235" name="Google Shape;235;g39c501ade2c_0_181: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6" name="Google Shape;236;g39c501ade2c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arduino.cc/en/software/" TargetMode="External"/><Relationship Id="rId2" Type="http://schemas.openxmlformats.org/officeDocument/2006/relationships/notesSlide" Target="../notesSlides/notesSlide2.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20.png"/><Relationship Id="rId4" Type="http://schemas.openxmlformats.org/officeDocument/2006/relationships/image" Target="../media/image19.png"/></Relationships>
</file>

<file path=ppt/slides/_rels/slide2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22.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3.gif"/><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979C"/>
        </a:solidFill>
        <a:effectLst/>
      </p:bgPr>
    </p:bg>
    <p:spTree>
      <p:nvGrpSpPr>
        <p:cNvPr id="1" name="Shape 53"/>
        <p:cNvGrpSpPr/>
        <p:nvPr/>
      </p:nvGrpSpPr>
      <p:grpSpPr>
        <a:xfrm>
          <a:off x="0" y="0"/>
          <a:ext cx="0" cy="0"/>
          <a:chOff x="0" y="0"/>
          <a:chExt cx="0" cy="0"/>
        </a:xfrm>
      </p:grpSpPr>
      <p:pic>
        <p:nvPicPr>
          <p:cNvPr id="54" name="Google Shape;54;p13"/>
          <p:cNvPicPr preferRelativeResize="0"/>
          <p:nvPr/>
        </p:nvPicPr>
        <p:blipFill>
          <a:blip r:embed="rId3">
            <a:alphaModFix/>
          </a:blip>
          <a:stretch>
            <a:fillRect/>
          </a:stretch>
        </p:blipFill>
        <p:spPr>
          <a:xfrm>
            <a:off x="2745074" y="115550"/>
            <a:ext cx="3653850" cy="3653850"/>
          </a:xfrm>
          <a:prstGeom prst="rect">
            <a:avLst/>
          </a:prstGeom>
          <a:noFill/>
          <a:ln>
            <a:noFill/>
          </a:ln>
        </p:spPr>
      </p:pic>
      <p:sp>
        <p:nvSpPr>
          <p:cNvPr id="55" name="Google Shape;55;p13"/>
          <p:cNvSpPr txBox="1">
            <a:spLocks noGrp="1"/>
          </p:cNvSpPr>
          <p:nvPr>
            <p:ph type="ctrTitle"/>
          </p:nvPr>
        </p:nvSpPr>
        <p:spPr>
          <a:xfrm>
            <a:off x="311708" y="2280525"/>
            <a:ext cx="8520600" cy="2052600"/>
          </a:xfrm>
          <a:prstGeom prst="rect">
            <a:avLst/>
          </a:prstGeom>
        </p:spPr>
        <p:txBody>
          <a:bodyPr spcFirstLastPara="1" wrap="square" lIns="91425" tIns="91425" rIns="91425" bIns="91425" anchor="b" anchorCtr="0">
            <a:normAutofit/>
          </a:bodyPr>
          <a:lstStyle/>
          <a:p>
            <a:pPr marL="0" lvl="0" indent="0" algn="ctr" rtl="0">
              <a:spcBef>
                <a:spcPts val="0"/>
              </a:spcBef>
              <a:spcAft>
                <a:spcPts val="0"/>
              </a:spcAft>
              <a:buNone/>
            </a:pPr>
            <a:r>
              <a:rPr lang="en" sz="3400">
                <a:solidFill>
                  <a:schemeClr val="lt1"/>
                </a:solidFill>
              </a:rPr>
              <a:t>Blinky Workshop</a:t>
            </a:r>
            <a:endParaRPr sz="3400">
              <a:solidFill>
                <a:schemeClr val="lt1"/>
              </a:solidFill>
            </a:endParaRPr>
          </a:p>
        </p:txBody>
      </p:sp>
      <p:sp>
        <p:nvSpPr>
          <p:cNvPr id="56" name="Google Shape;56;p13"/>
          <p:cNvSpPr txBox="1">
            <a:spLocks noGrp="1"/>
          </p:cNvSpPr>
          <p:nvPr>
            <p:ph type="subTitle" idx="1"/>
          </p:nvPr>
        </p:nvSpPr>
        <p:spPr>
          <a:xfrm>
            <a:off x="311700" y="4208200"/>
            <a:ext cx="8520600" cy="792600"/>
          </a:xfrm>
          <a:prstGeom prst="rect">
            <a:avLst/>
          </a:prstGeom>
        </p:spPr>
        <p:txBody>
          <a:bodyPr spcFirstLastPara="1" wrap="square" lIns="91425" tIns="91425" rIns="91425" bIns="91425" anchor="t" anchorCtr="0">
            <a:normAutofit/>
          </a:bodyPr>
          <a:lstStyle/>
          <a:p>
            <a:pPr marL="0" lvl="0" indent="0" algn="ctr" rtl="0">
              <a:spcBef>
                <a:spcPts val="0"/>
              </a:spcBef>
              <a:spcAft>
                <a:spcPts val="0"/>
              </a:spcAft>
              <a:buNone/>
            </a:pPr>
            <a:r>
              <a:rPr lang="en" sz="2400">
                <a:solidFill>
                  <a:schemeClr val="lt1"/>
                </a:solidFill>
              </a:rPr>
              <a:t>BYUI Hackathon</a:t>
            </a:r>
            <a:endParaRPr sz="2400">
              <a:solidFill>
                <a:schemeClr val="lt1"/>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1" name="Google Shape;61;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Download and install the Arduino IDE</a:t>
            </a:r>
            <a:endParaRPr/>
          </a:p>
        </p:txBody>
      </p:sp>
      <p:sp>
        <p:nvSpPr>
          <p:cNvPr id="62" name="Google Shape;62;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u="sng">
                <a:solidFill>
                  <a:schemeClr val="hlink"/>
                </a:solidFill>
                <a:hlinkClick r:id="rId3"/>
              </a:rPr>
              <a:t>https://www.arduino.cc/en/software/</a:t>
            </a:r>
            <a:endParaRPr/>
          </a:p>
        </p:txBody>
      </p:sp>
      <p:pic>
        <p:nvPicPr>
          <p:cNvPr id="63" name="Google Shape;63;p14"/>
          <p:cNvPicPr preferRelativeResize="0"/>
          <p:nvPr/>
        </p:nvPicPr>
        <p:blipFill>
          <a:blip r:embed="rId4">
            <a:alphaModFix/>
          </a:blip>
          <a:stretch>
            <a:fillRect/>
          </a:stretch>
        </p:blipFill>
        <p:spPr>
          <a:xfrm>
            <a:off x="3152725" y="1855150"/>
            <a:ext cx="2838551" cy="28385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7"/>
        <p:cNvGrpSpPr/>
        <p:nvPr/>
      </p:nvGrpSpPr>
      <p:grpSpPr>
        <a:xfrm>
          <a:off x="0" y="0"/>
          <a:ext cx="0" cy="0"/>
          <a:chOff x="0" y="0"/>
          <a:chExt cx="0" cy="0"/>
        </a:xfrm>
      </p:grpSpPr>
      <p:sp>
        <p:nvSpPr>
          <p:cNvPr id="68" name="Google Shape;68;p1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is an Arduino?</a:t>
            </a:r>
            <a:endParaRPr/>
          </a:p>
        </p:txBody>
      </p:sp>
      <p:sp>
        <p:nvSpPr>
          <p:cNvPr id="69" name="Google Shape;69;p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 microcontroller that:</a:t>
            </a:r>
            <a:endParaRPr/>
          </a:p>
          <a:p>
            <a:pPr marL="457200" lvl="0" indent="-342900" algn="l" rtl="0">
              <a:spcBef>
                <a:spcPts val="1200"/>
              </a:spcBef>
              <a:spcAft>
                <a:spcPts val="0"/>
              </a:spcAft>
              <a:buSzPts val="1800"/>
              <a:buChar char="-"/>
            </a:pPr>
            <a:r>
              <a:rPr lang="en"/>
              <a:t>Can send and receive electrical signals</a:t>
            </a:r>
            <a:endParaRPr/>
          </a:p>
          <a:p>
            <a:pPr marL="457200" lvl="0" indent="-342900" algn="l" rtl="0">
              <a:spcBef>
                <a:spcPts val="0"/>
              </a:spcBef>
              <a:spcAft>
                <a:spcPts val="0"/>
              </a:spcAft>
              <a:buSzPts val="1800"/>
              <a:buChar char="-"/>
            </a:pPr>
            <a:r>
              <a:rPr lang="en"/>
              <a:t>Can be programmed (using Arduino IDE)</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Uses its programming and input/output ports to make an </a:t>
            </a:r>
            <a:r>
              <a:rPr lang="en" u="sng"/>
              <a:t>embedded system </a:t>
            </a:r>
            <a:r>
              <a:rPr lang="en"/>
              <a:t>that interfaces with the real world</a:t>
            </a:r>
            <a:endParaRPr/>
          </a:p>
        </p:txBody>
      </p:sp>
      <p:pic>
        <p:nvPicPr>
          <p:cNvPr id="70" name="Google Shape;70;p15"/>
          <p:cNvPicPr preferRelativeResize="0"/>
          <p:nvPr/>
        </p:nvPicPr>
        <p:blipFill>
          <a:blip r:embed="rId3">
            <a:alphaModFix/>
          </a:blip>
          <a:stretch>
            <a:fillRect/>
          </a:stretch>
        </p:blipFill>
        <p:spPr>
          <a:xfrm>
            <a:off x="5251300" y="224825"/>
            <a:ext cx="3581000" cy="26857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4"/>
        <p:cNvGrpSpPr/>
        <p:nvPr/>
      </p:nvGrpSpPr>
      <p:grpSpPr>
        <a:xfrm>
          <a:off x="0" y="0"/>
          <a:ext cx="0" cy="0"/>
          <a:chOff x="0" y="0"/>
          <a:chExt cx="0" cy="0"/>
        </a:xfrm>
      </p:grpSpPr>
      <p:sp>
        <p:nvSpPr>
          <p:cNvPr id="75" name="Google Shape;75;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dirty="0"/>
              <a:t>What We’re Doing Today</a:t>
            </a:r>
            <a:endParaRPr dirty="0"/>
          </a:p>
        </p:txBody>
      </p:sp>
      <p:sp>
        <p:nvSpPr>
          <p:cNvPr id="76" name="Google Shape;76;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dirty="0"/>
              <a:t>In this workshop, we will make a “blinky” that flashes a light. We will need to:</a:t>
            </a:r>
            <a:endParaRPr dirty="0"/>
          </a:p>
          <a:p>
            <a:pPr marL="457200" lvl="0" indent="-342900" algn="l" rtl="0">
              <a:spcBef>
                <a:spcPts val="1200"/>
              </a:spcBef>
              <a:spcAft>
                <a:spcPts val="0"/>
              </a:spcAft>
              <a:buSzPts val="1800"/>
              <a:buAutoNum type="arabicParenR"/>
            </a:pPr>
            <a:r>
              <a:rPr lang="en" dirty="0"/>
              <a:t>Wire up an electrical circuit</a:t>
            </a:r>
            <a:endParaRPr dirty="0"/>
          </a:p>
          <a:p>
            <a:pPr marL="457200" lvl="0" indent="-342900" algn="l" rtl="0">
              <a:spcBef>
                <a:spcPts val="0"/>
              </a:spcBef>
              <a:spcAft>
                <a:spcPts val="0"/>
              </a:spcAft>
              <a:buSzPts val="1800"/>
              <a:buAutoNum type="arabicParenR"/>
            </a:pPr>
            <a:r>
              <a:rPr lang="en" dirty="0"/>
              <a:t>Connect the circuit to the Arduino externally (wires) and internally (code)</a:t>
            </a:r>
            <a:endParaRPr dirty="0"/>
          </a:p>
          <a:p>
            <a:pPr marL="457200" lvl="0" indent="-342900" algn="l" rtl="0">
              <a:spcBef>
                <a:spcPts val="0"/>
              </a:spcBef>
              <a:spcAft>
                <a:spcPts val="0"/>
              </a:spcAft>
              <a:buSzPts val="1800"/>
              <a:buAutoNum type="arabicParenR"/>
            </a:pPr>
            <a:r>
              <a:rPr lang="en" dirty="0"/>
              <a:t>Write the program to control the Arduino (C++ Language)</a:t>
            </a:r>
            <a:endParaRPr dirty="0"/>
          </a:p>
          <a:p>
            <a:pPr marL="457200" lvl="0" indent="-342900" algn="l" rtl="0">
              <a:spcBef>
                <a:spcPts val="0"/>
              </a:spcBef>
              <a:spcAft>
                <a:spcPts val="0"/>
              </a:spcAft>
              <a:buSzPts val="1800"/>
              <a:buAutoNum type="arabicParenR"/>
            </a:pPr>
            <a:r>
              <a:rPr lang="en" dirty="0"/>
              <a:t>Run it</a:t>
            </a:r>
            <a:endParaRPr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0"/>
        <p:cNvGrpSpPr/>
        <p:nvPr/>
      </p:nvGrpSpPr>
      <p:grpSpPr>
        <a:xfrm>
          <a:off x="0" y="0"/>
          <a:ext cx="0" cy="0"/>
          <a:chOff x="0" y="0"/>
          <a:chExt cx="0" cy="0"/>
        </a:xfrm>
      </p:grpSpPr>
      <p:sp>
        <p:nvSpPr>
          <p:cNvPr id="81" name="Google Shape;81;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But First, A Little About Electricity</a:t>
            </a:r>
            <a:endParaRPr/>
          </a:p>
        </p:txBody>
      </p:sp>
      <p:sp>
        <p:nvSpPr>
          <p:cNvPr id="82" name="Google Shape;82;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n"/>
              <a:t>Electricity is defined as the flow of electrons through a wire that powers machines and sends signals</a:t>
            </a:r>
            <a:endParaRPr/>
          </a:p>
          <a:p>
            <a:pPr marL="457200" lvl="0" indent="-342900" algn="l" rtl="0">
              <a:spcBef>
                <a:spcPts val="0"/>
              </a:spcBef>
              <a:spcAft>
                <a:spcPts val="0"/>
              </a:spcAft>
              <a:buSzPts val="1800"/>
              <a:buChar char="-"/>
            </a:pPr>
            <a:r>
              <a:rPr lang="en"/>
              <a:t>Electricity can be dangerous, but at this level it’s weak enough to be harmless</a:t>
            </a:r>
            <a:endParaRPr/>
          </a:p>
          <a:p>
            <a:pPr marL="457200" lvl="0" indent="-342900" algn="l" rtl="0">
              <a:spcBef>
                <a:spcPts val="0"/>
              </a:spcBef>
              <a:spcAft>
                <a:spcPts val="0"/>
              </a:spcAft>
              <a:buSzPts val="1800"/>
              <a:buChar char="-"/>
            </a:pPr>
            <a:r>
              <a:rPr lang="en"/>
              <a:t>HOWEVER: If a circuit is wired incorrectly, it CAN harm your equipment</a:t>
            </a:r>
            <a:endParaRPr/>
          </a:p>
          <a:p>
            <a:pPr marL="0" lvl="0" indent="0" algn="l" rtl="0">
              <a:spcBef>
                <a:spcPts val="1200"/>
              </a:spcBef>
              <a:spcAft>
                <a:spcPts val="0"/>
              </a:spcAft>
              <a:buNone/>
            </a:pPr>
            <a:endParaRPr/>
          </a:p>
          <a:p>
            <a:pPr marL="457200" lvl="0" indent="-342900" algn="l" rtl="0">
              <a:spcBef>
                <a:spcPts val="1200"/>
              </a:spcBef>
              <a:spcAft>
                <a:spcPts val="0"/>
              </a:spcAft>
              <a:buSzPts val="1800"/>
              <a:buChar char="-"/>
            </a:pPr>
            <a:r>
              <a:rPr lang="en"/>
              <a:t>It has numerical properties which need to be balanced across a circuit, and are represented by mathematical variables and equations</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Ohm’s Law</a:t>
            </a:r>
            <a:endParaRPr/>
          </a:p>
        </p:txBody>
      </p:sp>
      <p:sp>
        <p:nvSpPr>
          <p:cNvPr id="88" name="Google Shape;88;p18"/>
          <p:cNvSpPr txBox="1">
            <a:spLocks noGrp="1"/>
          </p:cNvSpPr>
          <p:nvPr>
            <p:ph type="body" idx="1"/>
          </p:nvPr>
        </p:nvSpPr>
        <p:spPr>
          <a:xfrm>
            <a:off x="311700" y="1152475"/>
            <a:ext cx="5328300" cy="37881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Basic components of electricity:</a:t>
            </a:r>
            <a:endParaRPr/>
          </a:p>
          <a:p>
            <a:pPr marL="457200" lvl="0" indent="-342900" algn="l" rtl="0">
              <a:spcBef>
                <a:spcPts val="1200"/>
              </a:spcBef>
              <a:spcAft>
                <a:spcPts val="0"/>
              </a:spcAft>
              <a:buSzPts val="1800"/>
              <a:buChar char="-"/>
            </a:pPr>
            <a:r>
              <a:rPr lang="en"/>
              <a:t>Voltage: electrical potential, the “push” of flow</a:t>
            </a:r>
            <a:endParaRPr/>
          </a:p>
          <a:p>
            <a:pPr marL="457200" lvl="0" indent="-342900" algn="l" rtl="0">
              <a:spcBef>
                <a:spcPts val="0"/>
              </a:spcBef>
              <a:spcAft>
                <a:spcPts val="0"/>
              </a:spcAft>
              <a:buSzPts val="1800"/>
              <a:buChar char="-"/>
            </a:pPr>
            <a:r>
              <a:rPr lang="en"/>
              <a:t>Current: the rate of flow</a:t>
            </a:r>
            <a:endParaRPr/>
          </a:p>
          <a:p>
            <a:pPr marL="457200" lvl="0" indent="-342900" algn="l" rtl="0">
              <a:spcBef>
                <a:spcPts val="0"/>
              </a:spcBef>
              <a:spcAft>
                <a:spcPts val="0"/>
              </a:spcAft>
              <a:buSzPts val="1800"/>
              <a:buChar char="-"/>
            </a:pPr>
            <a:r>
              <a:rPr lang="en"/>
              <a:t>Resistance: the opposition to current flow</a:t>
            </a:r>
            <a:endParaRPr/>
          </a:p>
          <a:p>
            <a:pPr marL="0" lvl="0" indent="0" algn="l" rtl="0">
              <a:spcBef>
                <a:spcPts val="1200"/>
              </a:spcBef>
              <a:spcAft>
                <a:spcPts val="0"/>
              </a:spcAft>
              <a:buNone/>
            </a:pPr>
            <a:r>
              <a:rPr lang="en" sz="2500"/>
              <a:t>V = I * R</a:t>
            </a:r>
            <a:endParaRPr sz="2500"/>
          </a:p>
          <a:p>
            <a:pPr marL="0" lvl="0" indent="0" algn="l" rtl="0">
              <a:spcBef>
                <a:spcPts val="1200"/>
              </a:spcBef>
              <a:spcAft>
                <a:spcPts val="0"/>
              </a:spcAft>
              <a:buNone/>
            </a:pPr>
            <a:endParaRPr sz="1600"/>
          </a:p>
          <a:p>
            <a:pPr marL="0" lvl="0" indent="0" algn="l" rtl="0">
              <a:lnSpc>
                <a:spcPct val="100000"/>
              </a:lnSpc>
              <a:spcBef>
                <a:spcPts val="1200"/>
              </a:spcBef>
              <a:spcAft>
                <a:spcPts val="0"/>
              </a:spcAft>
              <a:buNone/>
            </a:pPr>
            <a:r>
              <a:rPr lang="en" sz="1600"/>
              <a:t>We aren’t going to calculate anything today, but this </a:t>
            </a:r>
            <a:endParaRPr sz="1600"/>
          </a:p>
          <a:p>
            <a:pPr marL="0" lvl="0" indent="0" algn="l" rtl="0">
              <a:lnSpc>
                <a:spcPct val="100000"/>
              </a:lnSpc>
              <a:spcBef>
                <a:spcPts val="1200"/>
              </a:spcBef>
              <a:spcAft>
                <a:spcPts val="1200"/>
              </a:spcAft>
              <a:buNone/>
            </a:pPr>
            <a:r>
              <a:rPr lang="en" sz="1600"/>
              <a:t>essential for making your own circuits</a:t>
            </a:r>
            <a:endParaRPr sz="1600"/>
          </a:p>
        </p:txBody>
      </p:sp>
      <p:pic>
        <p:nvPicPr>
          <p:cNvPr id="89" name="Google Shape;89;p18"/>
          <p:cNvPicPr preferRelativeResize="0"/>
          <p:nvPr/>
        </p:nvPicPr>
        <p:blipFill>
          <a:blip r:embed="rId3">
            <a:alphaModFix/>
          </a:blip>
          <a:stretch>
            <a:fillRect/>
          </a:stretch>
        </p:blipFill>
        <p:spPr>
          <a:xfrm>
            <a:off x="5093525" y="2571750"/>
            <a:ext cx="3938050" cy="24612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The Circuit Diagram</a:t>
            </a:r>
            <a:endParaRPr/>
          </a:p>
        </p:txBody>
      </p:sp>
      <p:sp>
        <p:nvSpPr>
          <p:cNvPr id="95" name="Google Shape;95;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This is the diagram for electrical connectivity.</a:t>
            </a:r>
            <a:endParaRPr/>
          </a:p>
        </p:txBody>
      </p:sp>
      <p:pic>
        <p:nvPicPr>
          <p:cNvPr id="96" name="Google Shape;96;p19"/>
          <p:cNvPicPr preferRelativeResize="0"/>
          <p:nvPr/>
        </p:nvPicPr>
        <p:blipFill>
          <a:blip r:embed="rId3">
            <a:alphaModFix/>
          </a:blip>
          <a:stretch>
            <a:fillRect/>
          </a:stretch>
        </p:blipFill>
        <p:spPr>
          <a:xfrm>
            <a:off x="3374475" y="1801925"/>
            <a:ext cx="4682601" cy="30798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What You Need</a:t>
            </a:r>
            <a:endParaRPr/>
          </a:p>
        </p:txBody>
      </p:sp>
      <p:sp>
        <p:nvSpPr>
          <p:cNvPr id="102" name="Google Shape;102;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1x Arduino Uno w/ USB cable</a:t>
            </a:r>
            <a:endParaRPr/>
          </a:p>
          <a:p>
            <a:pPr marL="0" lvl="0" indent="0" algn="l" rtl="0">
              <a:spcBef>
                <a:spcPts val="1200"/>
              </a:spcBef>
              <a:spcAft>
                <a:spcPts val="0"/>
              </a:spcAft>
              <a:buNone/>
            </a:pPr>
            <a:r>
              <a:rPr lang="en"/>
              <a:t>1x Breadboard</a:t>
            </a:r>
            <a:endParaRPr/>
          </a:p>
          <a:p>
            <a:pPr marL="0" lvl="0" indent="0" algn="l" rtl="0">
              <a:spcBef>
                <a:spcPts val="1200"/>
              </a:spcBef>
              <a:spcAft>
                <a:spcPts val="0"/>
              </a:spcAft>
              <a:buNone/>
            </a:pPr>
            <a:r>
              <a:rPr lang="en"/>
              <a:t>1x Push Button</a:t>
            </a:r>
            <a:endParaRPr/>
          </a:p>
          <a:p>
            <a:pPr marL="0" lvl="0" indent="0" algn="l" rtl="0">
              <a:spcBef>
                <a:spcPts val="1200"/>
              </a:spcBef>
              <a:spcAft>
                <a:spcPts val="0"/>
              </a:spcAft>
              <a:buNone/>
            </a:pPr>
            <a:r>
              <a:rPr lang="en"/>
              <a:t>1x LED</a:t>
            </a:r>
            <a:endParaRPr/>
          </a:p>
          <a:p>
            <a:pPr marL="0" lvl="0" indent="0" algn="l" rtl="0">
              <a:spcBef>
                <a:spcPts val="1200"/>
              </a:spcBef>
              <a:spcAft>
                <a:spcPts val="0"/>
              </a:spcAft>
              <a:buNone/>
            </a:pPr>
            <a:r>
              <a:rPr lang="en"/>
              <a:t>2x Resistors</a:t>
            </a:r>
            <a:endParaRPr/>
          </a:p>
          <a:p>
            <a:pPr marL="0" lvl="0" indent="0" algn="l" rtl="0">
              <a:spcBef>
                <a:spcPts val="1200"/>
              </a:spcBef>
              <a:spcAft>
                <a:spcPts val="1200"/>
              </a:spcAft>
              <a:buNone/>
            </a:pPr>
            <a:r>
              <a:rPr lang="en"/>
              <a:t>4+ Jumper Wires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Breadboards</a:t>
            </a:r>
            <a:endParaRPr/>
          </a:p>
        </p:txBody>
      </p:sp>
      <p:sp>
        <p:nvSpPr>
          <p:cNvPr id="108" name="Google Shape;108;p21"/>
          <p:cNvSpPr txBox="1">
            <a:spLocks noGrp="1"/>
          </p:cNvSpPr>
          <p:nvPr>
            <p:ph type="body" idx="1"/>
          </p:nvPr>
        </p:nvSpPr>
        <p:spPr>
          <a:xfrm>
            <a:off x="311700" y="1152475"/>
            <a:ext cx="3126600" cy="34164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Give a solid foundation for wire connections</a:t>
            </a:r>
            <a:endParaRPr/>
          </a:p>
          <a:p>
            <a:pPr marL="0" lvl="0" indent="0" algn="l" rtl="0">
              <a:spcBef>
                <a:spcPts val="1200"/>
              </a:spcBef>
              <a:spcAft>
                <a:spcPts val="0"/>
              </a:spcAft>
              <a:buNone/>
            </a:pPr>
            <a:endParaRPr/>
          </a:p>
          <a:p>
            <a:pPr marL="0" lvl="0" indent="0" algn="l" rtl="0">
              <a:spcBef>
                <a:spcPts val="1200"/>
              </a:spcBef>
              <a:spcAft>
                <a:spcPts val="0"/>
              </a:spcAft>
              <a:buNone/>
            </a:pPr>
            <a:r>
              <a:rPr lang="en"/>
              <a:t>Internal Connectivity</a:t>
            </a:r>
            <a:endParaRPr/>
          </a:p>
          <a:p>
            <a:pPr marL="457200" lvl="0" indent="-342900" algn="l" rtl="0">
              <a:spcBef>
                <a:spcPts val="1200"/>
              </a:spcBef>
              <a:spcAft>
                <a:spcPts val="0"/>
              </a:spcAft>
              <a:buSzPts val="1800"/>
              <a:buChar char="-"/>
            </a:pPr>
            <a:r>
              <a:rPr lang="en"/>
              <a:t>Horizontal rows (top/bottom of board)</a:t>
            </a:r>
            <a:endParaRPr/>
          </a:p>
          <a:p>
            <a:pPr marL="457200" lvl="0" indent="-342900" algn="l" rtl="0">
              <a:spcBef>
                <a:spcPts val="0"/>
              </a:spcBef>
              <a:spcAft>
                <a:spcPts val="0"/>
              </a:spcAft>
              <a:buSzPts val="1800"/>
              <a:buChar char="-"/>
            </a:pPr>
            <a:r>
              <a:rPr lang="en"/>
              <a:t>Each individual column (connection doesn’t span gap)</a:t>
            </a:r>
            <a:endParaRPr/>
          </a:p>
        </p:txBody>
      </p:sp>
      <p:pic>
        <p:nvPicPr>
          <p:cNvPr id="109" name="Google Shape;109;p21"/>
          <p:cNvPicPr preferRelativeResize="0"/>
          <p:nvPr/>
        </p:nvPicPr>
        <p:blipFill>
          <a:blip r:embed="rId3">
            <a:alphaModFix/>
          </a:blip>
          <a:stretch>
            <a:fillRect/>
          </a:stretch>
        </p:blipFill>
        <p:spPr>
          <a:xfrm>
            <a:off x="3651200" y="380999"/>
            <a:ext cx="5023276" cy="41831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pic>
        <p:nvPicPr>
          <p:cNvPr id="114" name="Google Shape;114;p22"/>
          <p:cNvPicPr preferRelativeResize="0"/>
          <p:nvPr/>
        </p:nvPicPr>
        <p:blipFill>
          <a:blip r:embed="rId3">
            <a:alphaModFix/>
          </a:blip>
          <a:stretch>
            <a:fillRect/>
          </a:stretch>
        </p:blipFill>
        <p:spPr>
          <a:xfrm>
            <a:off x="0" y="0"/>
            <a:ext cx="9144010" cy="5143500"/>
          </a:xfrm>
          <a:prstGeom prst="rect">
            <a:avLst/>
          </a:prstGeom>
          <a:noFill/>
          <a:ln>
            <a:noFill/>
          </a:ln>
        </p:spPr>
      </p:pic>
      <p:sp>
        <p:nvSpPr>
          <p:cNvPr id="115" name="Google Shape;115;p2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LED Orientation</a:t>
            </a:r>
            <a:endParaRPr/>
          </a:p>
        </p:txBody>
      </p:sp>
      <p:sp>
        <p:nvSpPr>
          <p:cNvPr id="116" name="Google Shape;116;p22"/>
          <p:cNvSpPr txBox="1">
            <a:spLocks noGrp="1"/>
          </p:cNvSpPr>
          <p:nvPr>
            <p:ph type="body" idx="1"/>
          </p:nvPr>
        </p:nvSpPr>
        <p:spPr>
          <a:xfrm>
            <a:off x="311700" y="4550150"/>
            <a:ext cx="8520600" cy="487200"/>
          </a:xfrm>
          <a:prstGeom prst="rect">
            <a:avLst/>
          </a:prstGeom>
        </p:spPr>
        <p:txBody>
          <a:bodyPr spcFirstLastPara="1" wrap="square" lIns="91425" tIns="91425" rIns="91425" bIns="91425" anchor="t" anchorCtr="0">
            <a:normAutofit fontScale="92500"/>
          </a:bodyPr>
          <a:lstStyle/>
          <a:p>
            <a:pPr marL="0" lvl="0" indent="0" algn="ctr" rtl="0">
              <a:spcBef>
                <a:spcPts val="0"/>
              </a:spcBef>
              <a:spcAft>
                <a:spcPts val="1200"/>
              </a:spcAft>
              <a:buNone/>
            </a:pPr>
            <a:r>
              <a:rPr lang="en"/>
              <a:t>LEDs are designed to take current flow from one direction. Pay attention to the legs!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Wire Up Your Board</a:t>
            </a:r>
            <a:endParaRPr/>
          </a:p>
        </p:txBody>
      </p:sp>
      <p:sp>
        <p:nvSpPr>
          <p:cNvPr id="122" name="Google Shape;122;p23"/>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pic>
        <p:nvPicPr>
          <p:cNvPr id="123" name="Google Shape;123;p23"/>
          <p:cNvPicPr preferRelativeResize="0"/>
          <p:nvPr/>
        </p:nvPicPr>
        <p:blipFill>
          <a:blip r:embed="rId3">
            <a:alphaModFix/>
          </a:blip>
          <a:stretch>
            <a:fillRect/>
          </a:stretch>
        </p:blipFill>
        <p:spPr>
          <a:xfrm>
            <a:off x="1586300" y="1152475"/>
            <a:ext cx="5971399" cy="388172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7"/>
        <p:cNvGrpSpPr/>
        <p:nvPr/>
      </p:nvGrpSpPr>
      <p:grpSpPr>
        <a:xfrm>
          <a:off x="0" y="0"/>
          <a:ext cx="0" cy="0"/>
          <a:chOff x="0" y="0"/>
          <a:chExt cx="0" cy="0"/>
        </a:xfrm>
      </p:grpSpPr>
      <p:sp>
        <p:nvSpPr>
          <p:cNvPr id="128" name="Google Shape;128;p2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It Doesn’t Do Anything…Yet</a:t>
            </a:r>
            <a:endParaRPr/>
          </a:p>
        </p:txBody>
      </p:sp>
      <p:sp>
        <p:nvSpPr>
          <p:cNvPr id="129" name="Google Shape;129;p24"/>
          <p:cNvSpPr txBox="1">
            <a:spLocks noGrp="1"/>
          </p:cNvSpPr>
          <p:nvPr>
            <p:ph type="body" idx="1"/>
          </p:nvPr>
        </p:nvSpPr>
        <p:spPr>
          <a:xfrm>
            <a:off x="4971600" y="1152475"/>
            <a:ext cx="3860700" cy="3416400"/>
          </a:xfrm>
          <a:prstGeom prst="rect">
            <a:avLst/>
          </a:prstGeom>
        </p:spPr>
        <p:txBody>
          <a:bodyPr spcFirstLastPara="1" wrap="square" lIns="91425" tIns="91425" rIns="91425" bIns="91425" anchor="t" anchorCtr="0">
            <a:normAutofit lnSpcReduction="20000"/>
          </a:bodyPr>
          <a:lstStyle/>
          <a:p>
            <a:pPr marL="0" lvl="0" indent="0" algn="l" rtl="0">
              <a:spcBef>
                <a:spcPts val="0"/>
              </a:spcBef>
              <a:spcAft>
                <a:spcPts val="0"/>
              </a:spcAft>
              <a:buNone/>
            </a:pPr>
            <a:r>
              <a:rPr lang="en"/>
              <a:t>Open up Arduino IDE and create a new sketch. This is the script that we will send to our Arduino to control our circuit.</a:t>
            </a:r>
            <a:endParaRPr/>
          </a:p>
          <a:p>
            <a:pPr marL="0" lvl="0" indent="0" algn="l" rtl="0">
              <a:spcBef>
                <a:spcPts val="1200"/>
              </a:spcBef>
              <a:spcAft>
                <a:spcPts val="0"/>
              </a:spcAft>
              <a:buNone/>
            </a:pPr>
            <a:endParaRPr/>
          </a:p>
          <a:p>
            <a:pPr marL="0" lvl="0" indent="0" algn="l" rtl="0">
              <a:spcBef>
                <a:spcPts val="1200"/>
              </a:spcBef>
              <a:spcAft>
                <a:spcPts val="0"/>
              </a:spcAft>
              <a:buNone/>
            </a:pPr>
            <a:r>
              <a:rPr lang="en"/>
              <a:t>Plug in your Arduino and select it in the device selector. It will be on one of your COM ports which connect to your USB devices.</a:t>
            </a:r>
            <a:endParaRPr/>
          </a:p>
          <a:p>
            <a:pPr marL="0" lvl="0" indent="0" algn="l" rtl="0">
              <a:spcBef>
                <a:spcPts val="1200"/>
              </a:spcBef>
              <a:spcAft>
                <a:spcPts val="1200"/>
              </a:spcAft>
              <a:buNone/>
            </a:pPr>
            <a:endParaRPr/>
          </a:p>
        </p:txBody>
      </p:sp>
      <p:pic>
        <p:nvPicPr>
          <p:cNvPr id="130" name="Google Shape;130;p24"/>
          <p:cNvPicPr preferRelativeResize="0"/>
          <p:nvPr/>
        </p:nvPicPr>
        <p:blipFill>
          <a:blip r:embed="rId3">
            <a:alphaModFix/>
          </a:blip>
          <a:stretch>
            <a:fillRect/>
          </a:stretch>
        </p:blipFill>
        <p:spPr>
          <a:xfrm>
            <a:off x="249225" y="1601425"/>
            <a:ext cx="4485075" cy="251850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sp>
        <p:nvSpPr>
          <p:cNvPr id="135" name="Google Shape;135;p2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Define Your Input/Output Pins</a:t>
            </a:r>
            <a:endParaRPr/>
          </a:p>
        </p:txBody>
      </p:sp>
      <p:sp>
        <p:nvSpPr>
          <p:cNvPr id="136" name="Google Shape;136;p25"/>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The Arduino can’t manipulate any of the electrical pins yet. We need to define them as inputs (things to read) or outputs (things to write to). Follow along with the code below: </a:t>
            </a:r>
            <a:endParaRPr/>
          </a:p>
        </p:txBody>
      </p:sp>
      <p:pic>
        <p:nvPicPr>
          <p:cNvPr id="137" name="Google Shape;137;p25"/>
          <p:cNvPicPr preferRelativeResize="0"/>
          <p:nvPr/>
        </p:nvPicPr>
        <p:blipFill>
          <a:blip r:embed="rId3">
            <a:alphaModFix/>
          </a:blip>
          <a:stretch>
            <a:fillRect/>
          </a:stretch>
        </p:blipFill>
        <p:spPr>
          <a:xfrm>
            <a:off x="0" y="2220094"/>
            <a:ext cx="9144000" cy="2814113"/>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The Logic Flow</a:t>
            </a:r>
            <a:endParaRPr/>
          </a:p>
        </p:txBody>
      </p:sp>
      <p:sp>
        <p:nvSpPr>
          <p:cNvPr id="143" name="Google Shape;143;p26"/>
          <p:cNvSpPr txBox="1">
            <a:spLocks noGrp="1"/>
          </p:cNvSpPr>
          <p:nvPr>
            <p:ph type="body" idx="1"/>
          </p:nvPr>
        </p:nvSpPr>
        <p:spPr>
          <a:xfrm>
            <a:off x="311700" y="1152475"/>
            <a:ext cx="49224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Our goal is to make our circuit enter different “modes.” We want a state where the LED is turned off, a state where the LED is blinking, and a state where the LED is flashing. </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We are going to make a state machine, a circuit that has different “tasks” that it can switch between. </a:t>
            </a:r>
            <a:endParaRPr/>
          </a:p>
        </p:txBody>
      </p:sp>
      <p:sp>
        <p:nvSpPr>
          <p:cNvPr id="144" name="Google Shape;144;p26"/>
          <p:cNvSpPr/>
          <p:nvPr/>
        </p:nvSpPr>
        <p:spPr>
          <a:xfrm>
            <a:off x="6366450" y="1152475"/>
            <a:ext cx="1608300" cy="1097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5" name="Google Shape;145;p26"/>
          <p:cNvSpPr/>
          <p:nvPr/>
        </p:nvSpPr>
        <p:spPr>
          <a:xfrm>
            <a:off x="7333300" y="3047375"/>
            <a:ext cx="1608300" cy="1097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6" name="Google Shape;146;p26"/>
          <p:cNvSpPr/>
          <p:nvPr/>
        </p:nvSpPr>
        <p:spPr>
          <a:xfrm>
            <a:off x="4758150" y="2668850"/>
            <a:ext cx="1608300" cy="10977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 name="Google Shape;147;p26"/>
          <p:cNvSpPr txBox="1"/>
          <p:nvPr/>
        </p:nvSpPr>
        <p:spPr>
          <a:xfrm>
            <a:off x="6571200" y="1470475"/>
            <a:ext cx="12393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2"/>
                </a:solidFill>
              </a:rPr>
              <a:t>LED OFF</a:t>
            </a:r>
            <a:endParaRPr sz="1800" b="1">
              <a:solidFill>
                <a:schemeClr val="dk2"/>
              </a:solidFill>
            </a:endParaRPr>
          </a:p>
        </p:txBody>
      </p:sp>
      <p:sp>
        <p:nvSpPr>
          <p:cNvPr id="148" name="Google Shape;148;p26"/>
          <p:cNvSpPr txBox="1"/>
          <p:nvPr/>
        </p:nvSpPr>
        <p:spPr>
          <a:xfrm>
            <a:off x="7425550" y="3226775"/>
            <a:ext cx="14238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2"/>
                </a:solidFill>
              </a:rPr>
              <a:t>LED BLINKING</a:t>
            </a:r>
            <a:endParaRPr sz="1800" b="1">
              <a:solidFill>
                <a:schemeClr val="dk2"/>
              </a:solidFill>
            </a:endParaRPr>
          </a:p>
        </p:txBody>
      </p:sp>
      <p:sp>
        <p:nvSpPr>
          <p:cNvPr id="149" name="Google Shape;149;p26"/>
          <p:cNvSpPr txBox="1"/>
          <p:nvPr/>
        </p:nvSpPr>
        <p:spPr>
          <a:xfrm>
            <a:off x="4850400" y="2848250"/>
            <a:ext cx="1423800" cy="7389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2"/>
                </a:solidFill>
              </a:rPr>
              <a:t>LED FLASHING</a:t>
            </a:r>
            <a:endParaRPr sz="1800" b="1">
              <a:solidFill>
                <a:schemeClr val="dk2"/>
              </a:solidFill>
            </a:endParaRPr>
          </a:p>
        </p:txBody>
      </p:sp>
      <p:sp>
        <p:nvSpPr>
          <p:cNvPr id="150" name="Google Shape;150;p26"/>
          <p:cNvSpPr txBox="1"/>
          <p:nvPr/>
        </p:nvSpPr>
        <p:spPr>
          <a:xfrm>
            <a:off x="6243150" y="178050"/>
            <a:ext cx="1854900" cy="4617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800" b="1">
                <a:solidFill>
                  <a:schemeClr val="dk2"/>
                </a:solidFill>
              </a:rPr>
              <a:t>Start</a:t>
            </a:r>
            <a:endParaRPr sz="1800" b="1">
              <a:solidFill>
                <a:schemeClr val="dk2"/>
              </a:solidFill>
            </a:endParaRPr>
          </a:p>
        </p:txBody>
      </p:sp>
      <p:sp>
        <p:nvSpPr>
          <p:cNvPr id="151" name="Google Shape;151;p26"/>
          <p:cNvSpPr txBox="1"/>
          <p:nvPr/>
        </p:nvSpPr>
        <p:spPr>
          <a:xfrm rot="3877960">
            <a:off x="7625374" y="2194154"/>
            <a:ext cx="1854955" cy="400032"/>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b="1">
                <a:solidFill>
                  <a:schemeClr val="dk2"/>
                </a:solidFill>
              </a:rPr>
              <a:t>Button Press</a:t>
            </a:r>
            <a:endParaRPr b="1">
              <a:solidFill>
                <a:schemeClr val="dk2"/>
              </a:solidFill>
            </a:endParaRPr>
          </a:p>
        </p:txBody>
      </p:sp>
      <p:sp>
        <p:nvSpPr>
          <p:cNvPr id="152" name="Google Shape;152;p26"/>
          <p:cNvSpPr txBox="1"/>
          <p:nvPr/>
        </p:nvSpPr>
        <p:spPr>
          <a:xfrm rot="602476">
            <a:off x="5763441" y="3925167"/>
            <a:ext cx="1854811" cy="400054"/>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b="1">
                <a:solidFill>
                  <a:schemeClr val="dk2"/>
                </a:solidFill>
              </a:rPr>
              <a:t>Button Press</a:t>
            </a:r>
            <a:endParaRPr b="1">
              <a:solidFill>
                <a:schemeClr val="dk2"/>
              </a:solidFill>
            </a:endParaRPr>
          </a:p>
        </p:txBody>
      </p:sp>
      <p:sp>
        <p:nvSpPr>
          <p:cNvPr id="153" name="Google Shape;153;p26"/>
          <p:cNvSpPr txBox="1"/>
          <p:nvPr/>
        </p:nvSpPr>
        <p:spPr>
          <a:xfrm rot="-2491871">
            <a:off x="4749862" y="1732898"/>
            <a:ext cx="1854674" cy="400189"/>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b="1">
                <a:solidFill>
                  <a:schemeClr val="dk2"/>
                </a:solidFill>
              </a:rPr>
              <a:t>Button Press</a:t>
            </a:r>
            <a:endParaRPr b="1">
              <a:solidFill>
                <a:schemeClr val="dk2"/>
              </a:solidFill>
            </a:endParaRPr>
          </a:p>
        </p:txBody>
      </p:sp>
      <p:sp>
        <p:nvSpPr>
          <p:cNvPr id="154" name="Google Shape;154;p26"/>
          <p:cNvSpPr/>
          <p:nvPr/>
        </p:nvSpPr>
        <p:spPr>
          <a:xfrm rot="4109036">
            <a:off x="7723569" y="2348609"/>
            <a:ext cx="827784" cy="167685"/>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5" name="Google Shape;155;p26"/>
          <p:cNvSpPr/>
          <p:nvPr/>
        </p:nvSpPr>
        <p:spPr>
          <a:xfrm rot="-10219152">
            <a:off x="6389850" y="3655547"/>
            <a:ext cx="827788" cy="167688"/>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6" name="Google Shape;156;p26"/>
          <p:cNvSpPr/>
          <p:nvPr/>
        </p:nvSpPr>
        <p:spPr>
          <a:xfrm rot="-2402693">
            <a:off x="5488828" y="2119266"/>
            <a:ext cx="827650" cy="167781"/>
          </a:xfrm>
          <a:prstGeom prst="right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57" name="Google Shape;157;p26"/>
          <p:cNvSpPr/>
          <p:nvPr/>
        </p:nvSpPr>
        <p:spPr>
          <a:xfrm>
            <a:off x="7082250" y="586681"/>
            <a:ext cx="176700" cy="461700"/>
          </a:xfrm>
          <a:prstGeom prst="downArrow">
            <a:avLst>
              <a:gd name="adj1" fmla="val 50000"/>
              <a:gd name="adj2" fmla="val 50000"/>
            </a:avLst>
          </a:prstGeom>
          <a:solidFill>
            <a:srgbClr val="FF0000"/>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2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Loops</a:t>
            </a:r>
            <a:endParaRPr/>
          </a:p>
        </p:txBody>
      </p:sp>
      <p:sp>
        <p:nvSpPr>
          <p:cNvPr id="163" name="Google Shape;163;p27"/>
          <p:cNvSpPr txBox="1">
            <a:spLocks noGrp="1"/>
          </p:cNvSpPr>
          <p:nvPr>
            <p:ph type="body" idx="1"/>
          </p:nvPr>
        </p:nvSpPr>
        <p:spPr>
          <a:xfrm>
            <a:off x="311700" y="1152475"/>
            <a:ext cx="8520600" cy="813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Normally the project code is put into the default loop that runs forever. Instead, we are going to make a function for every state and runs loops inside them.</a:t>
            </a:r>
            <a:endParaRPr/>
          </a:p>
        </p:txBody>
      </p:sp>
      <p:pic>
        <p:nvPicPr>
          <p:cNvPr id="164" name="Google Shape;164;p27"/>
          <p:cNvPicPr preferRelativeResize="0"/>
          <p:nvPr/>
        </p:nvPicPr>
        <p:blipFill>
          <a:blip r:embed="rId3">
            <a:alphaModFix/>
          </a:blip>
          <a:stretch>
            <a:fillRect/>
          </a:stretch>
        </p:blipFill>
        <p:spPr>
          <a:xfrm>
            <a:off x="1536500" y="1965475"/>
            <a:ext cx="6071000" cy="1578625"/>
          </a:xfrm>
          <a:prstGeom prst="rect">
            <a:avLst/>
          </a:prstGeom>
          <a:noFill/>
          <a:ln>
            <a:noFill/>
          </a:ln>
        </p:spPr>
      </p:pic>
      <p:sp>
        <p:nvSpPr>
          <p:cNvPr id="165" name="Google Shape;165;p27"/>
          <p:cNvSpPr txBox="1">
            <a:spLocks noGrp="1"/>
          </p:cNvSpPr>
          <p:nvPr>
            <p:ph type="body" idx="1"/>
          </p:nvPr>
        </p:nvSpPr>
        <p:spPr>
          <a:xfrm>
            <a:off x="311700" y="3466900"/>
            <a:ext cx="8520600" cy="10749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1200"/>
              </a:spcAft>
              <a:buNone/>
            </a:pPr>
            <a:r>
              <a:rPr lang="en"/>
              <a:t>When we want to change the state, we will break the loop and finish the rest of the function, which calls the next state in line. We will use a global variable for this. Below your define statements, add:</a:t>
            </a:r>
            <a:endParaRPr/>
          </a:p>
        </p:txBody>
      </p:sp>
      <p:pic>
        <p:nvPicPr>
          <p:cNvPr id="166" name="Google Shape;166;p27"/>
          <p:cNvPicPr preferRelativeResize="0"/>
          <p:nvPr/>
        </p:nvPicPr>
        <p:blipFill>
          <a:blip r:embed="rId4">
            <a:alphaModFix/>
          </a:blip>
          <a:stretch>
            <a:fillRect/>
          </a:stretch>
        </p:blipFill>
        <p:spPr>
          <a:xfrm>
            <a:off x="2381250" y="4541800"/>
            <a:ext cx="4381500" cy="2095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Function: LED_do_nothing()</a:t>
            </a:r>
            <a:endParaRPr/>
          </a:p>
        </p:txBody>
      </p:sp>
      <p:sp>
        <p:nvSpPr>
          <p:cNvPr id="172" name="Google Shape;172;p28"/>
          <p:cNvSpPr txBox="1">
            <a:spLocks noGrp="1"/>
          </p:cNvSpPr>
          <p:nvPr>
            <p:ph type="body" idx="1"/>
          </p:nvPr>
        </p:nvSpPr>
        <p:spPr>
          <a:xfrm>
            <a:off x="311700" y="1152475"/>
            <a:ext cx="20349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p>
          <a:p>
            <a:pPr marL="0" lvl="0" indent="0" algn="l" rtl="0">
              <a:spcBef>
                <a:spcPts val="1200"/>
              </a:spcBef>
              <a:spcAft>
                <a:spcPts val="0"/>
              </a:spcAft>
              <a:buNone/>
            </a:pPr>
            <a:endParaRPr/>
          </a:p>
          <a:p>
            <a:pPr marL="0" lvl="0" indent="0" algn="l" rtl="0">
              <a:spcBef>
                <a:spcPts val="1200"/>
              </a:spcBef>
              <a:spcAft>
                <a:spcPts val="1200"/>
              </a:spcAft>
              <a:buNone/>
            </a:pPr>
            <a:endParaRPr/>
          </a:p>
        </p:txBody>
      </p:sp>
      <p:pic>
        <p:nvPicPr>
          <p:cNvPr id="173" name="Google Shape;173;p28"/>
          <p:cNvPicPr preferRelativeResize="0"/>
          <p:nvPr/>
        </p:nvPicPr>
        <p:blipFill>
          <a:blip r:embed="rId3">
            <a:alphaModFix/>
          </a:blip>
          <a:stretch>
            <a:fillRect/>
          </a:stretch>
        </p:blipFill>
        <p:spPr>
          <a:xfrm>
            <a:off x="1263950" y="1596738"/>
            <a:ext cx="6616099" cy="1950025"/>
          </a:xfrm>
          <a:prstGeom prst="rect">
            <a:avLst/>
          </a:prstGeom>
          <a:noFill/>
          <a:ln>
            <a:noFill/>
          </a:ln>
        </p:spPr>
      </p:pic>
      <p:sp>
        <p:nvSpPr>
          <p:cNvPr id="174" name="Google Shape;174;p28"/>
          <p:cNvSpPr txBox="1">
            <a:spLocks noGrp="1"/>
          </p:cNvSpPr>
          <p:nvPr>
            <p:ph type="body" idx="1"/>
          </p:nvPr>
        </p:nvSpPr>
        <p:spPr>
          <a:xfrm>
            <a:off x="311700" y="1152475"/>
            <a:ext cx="8520600" cy="8130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Copy the following function below the main loop:</a:t>
            </a:r>
            <a:endParaRPr/>
          </a:p>
        </p:txBody>
      </p:sp>
      <p:sp>
        <p:nvSpPr>
          <p:cNvPr id="175" name="Google Shape;175;p28"/>
          <p:cNvSpPr txBox="1">
            <a:spLocks noGrp="1"/>
          </p:cNvSpPr>
          <p:nvPr>
            <p:ph type="body" idx="1"/>
          </p:nvPr>
        </p:nvSpPr>
        <p:spPr>
          <a:xfrm>
            <a:off x="311700" y="3546775"/>
            <a:ext cx="8520600" cy="1206600"/>
          </a:xfrm>
          <a:prstGeom prst="rect">
            <a:avLst/>
          </a:prstGeom>
        </p:spPr>
        <p:txBody>
          <a:bodyPr spcFirstLastPara="1" wrap="square" lIns="91425" tIns="91425" rIns="91425" bIns="91425" anchor="t" anchorCtr="0">
            <a:normAutofit lnSpcReduction="10000"/>
          </a:bodyPr>
          <a:lstStyle/>
          <a:p>
            <a:pPr marL="0" lvl="0" indent="0" algn="l" rtl="0">
              <a:spcBef>
                <a:spcPts val="0"/>
              </a:spcBef>
              <a:spcAft>
                <a:spcPts val="0"/>
              </a:spcAft>
              <a:buNone/>
            </a:pPr>
            <a:r>
              <a:rPr lang="en"/>
              <a:t>digitalWrite(): Sets an output pin to HIGH or LOW, a logical 1 or 0. This turns on/off our LED.</a:t>
            </a:r>
            <a:endParaRPr/>
          </a:p>
          <a:p>
            <a:pPr marL="0" lvl="0" indent="0" algn="l" rtl="0">
              <a:spcBef>
                <a:spcPts val="1200"/>
              </a:spcBef>
              <a:spcAft>
                <a:spcPts val="1200"/>
              </a:spcAft>
              <a:buNone/>
            </a:pPr>
            <a:r>
              <a:rPr lang="en"/>
              <a:t>delay(): Makes the program wait for a time in milliseconds.</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Interrupts</a:t>
            </a:r>
            <a:endParaRPr/>
          </a:p>
        </p:txBody>
      </p:sp>
      <p:sp>
        <p:nvSpPr>
          <p:cNvPr id="181" name="Google Shape;181;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But wait? How is “running_mode” supposed to change if the program is stuck inside the while() loop?</a:t>
            </a:r>
            <a:endParaRPr/>
          </a:p>
          <a:p>
            <a:pPr marL="0" lvl="0" indent="0" algn="l" rtl="0">
              <a:spcBef>
                <a:spcPts val="1200"/>
              </a:spcBef>
              <a:spcAft>
                <a:spcPts val="0"/>
              </a:spcAft>
              <a:buNone/>
            </a:pPr>
            <a:endParaRPr/>
          </a:p>
          <a:p>
            <a:pPr marL="0" lvl="0" indent="0" algn="l" rtl="0">
              <a:spcBef>
                <a:spcPts val="1200"/>
              </a:spcBef>
              <a:spcAft>
                <a:spcPts val="0"/>
              </a:spcAft>
              <a:buNone/>
            </a:pPr>
            <a:r>
              <a:rPr lang="en"/>
              <a:t>Many programs need to be able to execute changes instantly without waiting for current processes to finish. These “instant” executions are called interrupts. </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The Arduino has the ability to “pause” what it’s doing in order to handle these important tasks when they come up, and then go back to what it was doing before.</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Add the Interrupt and its Logic</a:t>
            </a:r>
            <a:endParaRPr/>
          </a:p>
        </p:txBody>
      </p:sp>
      <p:sp>
        <p:nvSpPr>
          <p:cNvPr id="187" name="Google Shape;187;p30"/>
          <p:cNvSpPr txBox="1">
            <a:spLocks noGrp="1"/>
          </p:cNvSpPr>
          <p:nvPr>
            <p:ph type="body" idx="1"/>
          </p:nvPr>
        </p:nvSpPr>
        <p:spPr>
          <a:xfrm>
            <a:off x="311700" y="1152475"/>
            <a:ext cx="8520600" cy="1605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Add in setup():</a:t>
            </a:r>
            <a:endParaRPr/>
          </a:p>
          <a:p>
            <a:pPr marL="0" lvl="0" indent="0" algn="l" rtl="0">
              <a:spcBef>
                <a:spcPts val="1200"/>
              </a:spcBef>
              <a:spcAft>
                <a:spcPts val="1200"/>
              </a:spcAft>
              <a:buNone/>
            </a:pPr>
            <a:endParaRPr/>
          </a:p>
        </p:txBody>
      </p:sp>
      <p:pic>
        <p:nvPicPr>
          <p:cNvPr id="188" name="Google Shape;188;p30"/>
          <p:cNvPicPr preferRelativeResize="0"/>
          <p:nvPr/>
        </p:nvPicPr>
        <p:blipFill>
          <a:blip r:embed="rId3">
            <a:alphaModFix/>
          </a:blip>
          <a:stretch>
            <a:fillRect/>
          </a:stretch>
        </p:blipFill>
        <p:spPr>
          <a:xfrm>
            <a:off x="0" y="3713464"/>
            <a:ext cx="9143999" cy="1058522"/>
          </a:xfrm>
          <a:prstGeom prst="rect">
            <a:avLst/>
          </a:prstGeom>
          <a:noFill/>
          <a:ln>
            <a:noFill/>
          </a:ln>
        </p:spPr>
      </p:pic>
      <p:pic>
        <p:nvPicPr>
          <p:cNvPr id="189" name="Google Shape;189;p30"/>
          <p:cNvPicPr preferRelativeResize="0"/>
          <p:nvPr/>
        </p:nvPicPr>
        <p:blipFill>
          <a:blip r:embed="rId4">
            <a:alphaModFix/>
          </a:blip>
          <a:stretch>
            <a:fillRect/>
          </a:stretch>
        </p:blipFill>
        <p:spPr>
          <a:xfrm>
            <a:off x="973475" y="1581338"/>
            <a:ext cx="7197074" cy="1719725"/>
          </a:xfrm>
          <a:prstGeom prst="rect">
            <a:avLst/>
          </a:prstGeom>
          <a:noFill/>
          <a:ln>
            <a:noFill/>
          </a:ln>
        </p:spPr>
      </p:pic>
      <p:sp>
        <p:nvSpPr>
          <p:cNvPr id="190" name="Google Shape;190;p30"/>
          <p:cNvSpPr txBox="1">
            <a:spLocks noGrp="1"/>
          </p:cNvSpPr>
          <p:nvPr>
            <p:ph type="body" idx="1"/>
          </p:nvPr>
        </p:nvSpPr>
        <p:spPr>
          <a:xfrm>
            <a:off x="402413" y="3225475"/>
            <a:ext cx="8520600" cy="1605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Add below loop():</a:t>
            </a:r>
            <a:endParaRPr/>
          </a:p>
          <a:p>
            <a:pPr marL="0" lvl="0" indent="0" algn="l" rtl="0">
              <a:spcBef>
                <a:spcPts val="1200"/>
              </a:spcBef>
              <a:spcAft>
                <a:spcPts val="1200"/>
              </a:spcAft>
              <a:buNone/>
            </a:pPr>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3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Function: LED_blink()</a:t>
            </a:r>
            <a:endParaRPr/>
          </a:p>
        </p:txBody>
      </p:sp>
      <p:sp>
        <p:nvSpPr>
          <p:cNvPr id="196" name="Google Shape;196;p31"/>
          <p:cNvSpPr txBox="1">
            <a:spLocks noGrp="1"/>
          </p:cNvSpPr>
          <p:nvPr>
            <p:ph type="body" idx="1"/>
          </p:nvPr>
        </p:nvSpPr>
        <p:spPr>
          <a:xfrm>
            <a:off x="311700" y="1152475"/>
            <a:ext cx="8520600" cy="24519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r>
              <a:rPr lang="en"/>
              <a:t>Add below LED_do_nothing():</a:t>
            </a:r>
            <a:endParaRPr/>
          </a:p>
        </p:txBody>
      </p:sp>
      <p:pic>
        <p:nvPicPr>
          <p:cNvPr id="197" name="Google Shape;197;p31"/>
          <p:cNvPicPr preferRelativeResize="0"/>
          <p:nvPr/>
        </p:nvPicPr>
        <p:blipFill>
          <a:blip r:embed="rId3">
            <a:alphaModFix/>
          </a:blip>
          <a:stretch>
            <a:fillRect/>
          </a:stretch>
        </p:blipFill>
        <p:spPr>
          <a:xfrm>
            <a:off x="311700" y="1893325"/>
            <a:ext cx="11063150" cy="2361200"/>
          </a:xfrm>
          <a:prstGeom prst="rect">
            <a:avLst/>
          </a:prstGeom>
          <a:noFill/>
          <a:ln>
            <a:noFill/>
          </a:ln>
        </p:spPr>
      </p:pic>
      <p:sp>
        <p:nvSpPr>
          <p:cNvPr id="198" name="Google Shape;198;p31"/>
          <p:cNvSpPr txBox="1">
            <a:spLocks noGrp="1"/>
          </p:cNvSpPr>
          <p:nvPr>
            <p:ph type="body" idx="1"/>
          </p:nvPr>
        </p:nvSpPr>
        <p:spPr>
          <a:xfrm>
            <a:off x="311700" y="3739125"/>
            <a:ext cx="8520600" cy="16053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endParaRPr/>
          </a:p>
          <a:p>
            <a:pPr marL="0" lvl="0" indent="0" algn="l" rtl="0">
              <a:spcBef>
                <a:spcPts val="1200"/>
              </a:spcBef>
              <a:spcAft>
                <a:spcPts val="1200"/>
              </a:spcAft>
              <a:buNone/>
            </a:pPr>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02"/>
        <p:cNvGrpSpPr/>
        <p:nvPr/>
      </p:nvGrpSpPr>
      <p:grpSpPr>
        <a:xfrm>
          <a:off x="0" y="0"/>
          <a:ext cx="0" cy="0"/>
          <a:chOff x="0" y="0"/>
          <a:chExt cx="0" cy="0"/>
        </a:xfrm>
      </p:grpSpPr>
      <p:sp>
        <p:nvSpPr>
          <p:cNvPr id="203" name="Google Shape;203;p32"/>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Function: LED_flash()</a:t>
            </a:r>
            <a:endParaRPr/>
          </a:p>
        </p:txBody>
      </p:sp>
      <p:sp>
        <p:nvSpPr>
          <p:cNvPr id="204" name="Google Shape;204;p32"/>
          <p:cNvSpPr txBox="1">
            <a:spLocks noGrp="1"/>
          </p:cNvSpPr>
          <p:nvPr>
            <p:ph type="body" idx="1"/>
          </p:nvPr>
        </p:nvSpPr>
        <p:spPr>
          <a:xfrm>
            <a:off x="311700" y="1152475"/>
            <a:ext cx="40305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Add below LED_blink():</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This function is a more complicated version of LED_blink(), stepping the delay times up and down to make the light appear to be getting brighter and dimmer.</a:t>
            </a:r>
            <a:endParaRPr/>
          </a:p>
        </p:txBody>
      </p:sp>
      <p:pic>
        <p:nvPicPr>
          <p:cNvPr id="205" name="Google Shape;205;p32"/>
          <p:cNvPicPr preferRelativeResize="0"/>
          <p:nvPr/>
        </p:nvPicPr>
        <p:blipFill>
          <a:blip r:embed="rId3">
            <a:alphaModFix/>
          </a:blip>
          <a:stretch>
            <a:fillRect/>
          </a:stretch>
        </p:blipFill>
        <p:spPr>
          <a:xfrm>
            <a:off x="4572000" y="101300"/>
            <a:ext cx="4170624" cy="494090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33"/>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Serial Monitor</a:t>
            </a:r>
            <a:endParaRPr/>
          </a:p>
        </p:txBody>
      </p:sp>
      <p:sp>
        <p:nvSpPr>
          <p:cNvPr id="211" name="Google Shape;211;p33"/>
          <p:cNvSpPr txBox="1">
            <a:spLocks noGrp="1"/>
          </p:cNvSpPr>
          <p:nvPr>
            <p:ph type="body" idx="1"/>
          </p:nvPr>
        </p:nvSpPr>
        <p:spPr>
          <a:xfrm>
            <a:off x="311700" y="1152475"/>
            <a:ext cx="8520600" cy="161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When debugging, it’s helpful to be able to see your data. Arduino IDE has a serial monitor terminal for this. We can add print() statements to our program to see where our CPU is in the code even if the circuit isn’t working the way we want it to.</a:t>
            </a:r>
            <a:endParaRPr/>
          </a:p>
          <a:p>
            <a:pPr marL="0" lvl="0" indent="0" algn="l" rtl="0">
              <a:spcBef>
                <a:spcPts val="1200"/>
              </a:spcBef>
              <a:spcAft>
                <a:spcPts val="1200"/>
              </a:spcAft>
              <a:buNone/>
            </a:pPr>
            <a:r>
              <a:rPr lang="en"/>
              <a:t>Add in setup(): </a:t>
            </a:r>
            <a:endParaRPr/>
          </a:p>
        </p:txBody>
      </p:sp>
      <p:pic>
        <p:nvPicPr>
          <p:cNvPr id="212" name="Google Shape;212;p33"/>
          <p:cNvPicPr preferRelativeResize="0"/>
          <p:nvPr/>
        </p:nvPicPr>
        <p:blipFill>
          <a:blip r:embed="rId3">
            <a:alphaModFix/>
          </a:blip>
          <a:stretch>
            <a:fillRect/>
          </a:stretch>
        </p:blipFill>
        <p:spPr>
          <a:xfrm>
            <a:off x="152400" y="2766913"/>
            <a:ext cx="8839199" cy="187524"/>
          </a:xfrm>
          <a:prstGeom prst="rect">
            <a:avLst/>
          </a:prstGeom>
          <a:noFill/>
          <a:ln>
            <a:noFill/>
          </a:ln>
        </p:spPr>
      </p:pic>
      <p:sp>
        <p:nvSpPr>
          <p:cNvPr id="213" name="Google Shape;213;p33"/>
          <p:cNvSpPr txBox="1">
            <a:spLocks noGrp="1"/>
          </p:cNvSpPr>
          <p:nvPr>
            <p:ph type="body" idx="1"/>
          </p:nvPr>
        </p:nvSpPr>
        <p:spPr>
          <a:xfrm>
            <a:off x="311700" y="2954425"/>
            <a:ext cx="8520600" cy="161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Add to the start of each of your functions (change what it says for each one):</a:t>
            </a:r>
            <a:endParaRPr/>
          </a:p>
          <a:p>
            <a:pPr marL="0" lvl="0" indent="0" algn="l" rtl="0">
              <a:spcBef>
                <a:spcPts val="1200"/>
              </a:spcBef>
              <a:spcAft>
                <a:spcPts val="1200"/>
              </a:spcAft>
              <a:buNone/>
            </a:pPr>
            <a:endParaRPr/>
          </a:p>
        </p:txBody>
      </p:sp>
      <p:pic>
        <p:nvPicPr>
          <p:cNvPr id="214" name="Google Shape;214;p33"/>
          <p:cNvPicPr preferRelativeResize="0"/>
          <p:nvPr/>
        </p:nvPicPr>
        <p:blipFill>
          <a:blip r:embed="rId4">
            <a:alphaModFix/>
          </a:blip>
          <a:stretch>
            <a:fillRect/>
          </a:stretch>
        </p:blipFill>
        <p:spPr>
          <a:xfrm>
            <a:off x="2319338" y="3469711"/>
            <a:ext cx="4505325" cy="219075"/>
          </a:xfrm>
          <a:prstGeom prst="rect">
            <a:avLst/>
          </a:prstGeom>
          <a:noFill/>
          <a:ln>
            <a:noFill/>
          </a:ln>
        </p:spPr>
      </p:pic>
      <p:sp>
        <p:nvSpPr>
          <p:cNvPr id="215" name="Google Shape;215;p33"/>
          <p:cNvSpPr txBox="1">
            <a:spLocks noGrp="1"/>
          </p:cNvSpPr>
          <p:nvPr>
            <p:ph type="body" idx="1"/>
          </p:nvPr>
        </p:nvSpPr>
        <p:spPr>
          <a:xfrm>
            <a:off x="311700" y="3809725"/>
            <a:ext cx="8520600" cy="16146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And finally, start the first function at the end of setup():</a:t>
            </a:r>
            <a:endParaRPr/>
          </a:p>
          <a:p>
            <a:pPr marL="0" lvl="0" indent="0" algn="l" rtl="0">
              <a:spcBef>
                <a:spcPts val="1200"/>
              </a:spcBef>
              <a:spcAft>
                <a:spcPts val="1200"/>
              </a:spcAft>
              <a:buNone/>
            </a:pPr>
            <a:endParaRPr/>
          </a:p>
        </p:txBody>
      </p:sp>
      <p:pic>
        <p:nvPicPr>
          <p:cNvPr id="216" name="Google Shape;216;p33"/>
          <p:cNvPicPr preferRelativeResize="0"/>
          <p:nvPr/>
        </p:nvPicPr>
        <p:blipFill>
          <a:blip r:embed="rId5">
            <a:alphaModFix/>
          </a:blip>
          <a:stretch>
            <a:fillRect/>
          </a:stretch>
        </p:blipFill>
        <p:spPr>
          <a:xfrm>
            <a:off x="380485" y="4569033"/>
            <a:ext cx="8383027" cy="2774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20"/>
        <p:cNvGrpSpPr/>
        <p:nvPr/>
      </p:nvGrpSpPr>
      <p:grpSpPr>
        <a:xfrm>
          <a:off x="0" y="0"/>
          <a:ext cx="0" cy="0"/>
          <a:chOff x="0" y="0"/>
          <a:chExt cx="0" cy="0"/>
        </a:xfrm>
      </p:grpSpPr>
      <p:sp>
        <p:nvSpPr>
          <p:cNvPr id="221" name="Google Shape;221;p3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Verify and Upload Your Sketch</a:t>
            </a:r>
            <a:endParaRPr/>
          </a:p>
        </p:txBody>
      </p:sp>
      <p:sp>
        <p:nvSpPr>
          <p:cNvPr id="222" name="Google Shape;222;p34"/>
          <p:cNvSpPr txBox="1">
            <a:spLocks noGrp="1"/>
          </p:cNvSpPr>
          <p:nvPr>
            <p:ph type="body" idx="1"/>
          </p:nvPr>
        </p:nvSpPr>
        <p:spPr>
          <a:xfrm>
            <a:off x="311700" y="1152475"/>
            <a:ext cx="4559700" cy="3782400"/>
          </a:xfrm>
          <a:prstGeom prst="rect">
            <a:avLst/>
          </a:prstGeom>
        </p:spPr>
        <p:txBody>
          <a:bodyPr spcFirstLastPara="1" wrap="square" lIns="91425" tIns="91425" rIns="91425" bIns="91425" anchor="t" anchorCtr="0">
            <a:normAutofit fontScale="92500" lnSpcReduction="10000"/>
          </a:bodyPr>
          <a:lstStyle/>
          <a:p>
            <a:pPr marL="0" lvl="0" indent="0" algn="l" rtl="0">
              <a:spcBef>
                <a:spcPts val="0"/>
              </a:spcBef>
              <a:spcAft>
                <a:spcPts val="0"/>
              </a:spcAft>
              <a:buNone/>
            </a:pPr>
            <a:r>
              <a:rPr lang="en"/>
              <a:t>Click check mark to verify your code, then upload it once it’s error-free.</a:t>
            </a:r>
            <a:endParaRPr/>
          </a:p>
          <a:p>
            <a:pPr marL="0" lvl="0" indent="0" algn="l" rtl="0">
              <a:spcBef>
                <a:spcPts val="1200"/>
              </a:spcBef>
              <a:spcAft>
                <a:spcPts val="0"/>
              </a:spcAft>
              <a:buNone/>
            </a:pPr>
            <a:endParaRPr/>
          </a:p>
          <a:p>
            <a:pPr marL="0" lvl="0" indent="0" algn="l" rtl="0">
              <a:spcBef>
                <a:spcPts val="1200"/>
              </a:spcBef>
              <a:spcAft>
                <a:spcPts val="0"/>
              </a:spcAft>
              <a:buNone/>
            </a:pPr>
            <a:r>
              <a:rPr lang="en"/>
              <a:t>Press the button on the breadboard to cycle between the LED states.</a:t>
            </a:r>
            <a:endParaRPr/>
          </a:p>
          <a:p>
            <a:pPr marL="0" lvl="0" indent="0" algn="l" rtl="0">
              <a:spcBef>
                <a:spcPts val="1200"/>
              </a:spcBef>
              <a:spcAft>
                <a:spcPts val="0"/>
              </a:spcAft>
              <a:buNone/>
            </a:pPr>
            <a:endParaRPr/>
          </a:p>
          <a:p>
            <a:pPr marL="0" lvl="0" indent="0" algn="l" rtl="0">
              <a:spcBef>
                <a:spcPts val="1200"/>
              </a:spcBef>
              <a:spcAft>
                <a:spcPts val="0"/>
              </a:spcAft>
              <a:buNone/>
            </a:pPr>
            <a:r>
              <a:rPr lang="en"/>
              <a:t>Click the magnifying glass icon in your IDE to see your print() statements the serial monitor.</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Make your own custom LED state!</a:t>
            </a:r>
            <a:endParaRPr/>
          </a:p>
        </p:txBody>
      </p:sp>
      <p:pic>
        <p:nvPicPr>
          <p:cNvPr id="223" name="Google Shape;223;p34"/>
          <p:cNvPicPr preferRelativeResize="0"/>
          <p:nvPr/>
        </p:nvPicPr>
        <p:blipFill>
          <a:blip r:embed="rId3">
            <a:alphaModFix/>
          </a:blip>
          <a:stretch>
            <a:fillRect/>
          </a:stretch>
        </p:blipFill>
        <p:spPr>
          <a:xfrm>
            <a:off x="4970850" y="1236813"/>
            <a:ext cx="3314700" cy="885825"/>
          </a:xfrm>
          <a:prstGeom prst="rect">
            <a:avLst/>
          </a:prstGeom>
          <a:noFill/>
          <a:ln>
            <a:noFill/>
          </a:ln>
        </p:spPr>
      </p:pic>
      <p:pic>
        <p:nvPicPr>
          <p:cNvPr id="224" name="Google Shape;224;p34"/>
          <p:cNvPicPr preferRelativeResize="0"/>
          <p:nvPr/>
        </p:nvPicPr>
        <p:blipFill>
          <a:blip r:embed="rId4">
            <a:alphaModFix/>
          </a:blip>
          <a:stretch>
            <a:fillRect/>
          </a:stretch>
        </p:blipFill>
        <p:spPr>
          <a:xfrm>
            <a:off x="5694750" y="2894938"/>
            <a:ext cx="2590800" cy="14573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28"/>
        <p:cNvGrpSpPr/>
        <p:nvPr/>
      </p:nvGrpSpPr>
      <p:grpSpPr>
        <a:xfrm>
          <a:off x="0" y="0"/>
          <a:ext cx="0" cy="0"/>
          <a:chOff x="0" y="0"/>
          <a:chExt cx="0" cy="0"/>
        </a:xfrm>
      </p:grpSpPr>
      <p:sp>
        <p:nvSpPr>
          <p:cNvPr id="229" name="Google Shape;229;p3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Questions</a:t>
            </a:r>
            <a:endParaRPr/>
          </a:p>
        </p:txBody>
      </p:sp>
      <p:sp>
        <p:nvSpPr>
          <p:cNvPr id="230" name="Google Shape;230;p35"/>
          <p:cNvSpPr txBox="1">
            <a:spLocks noGrp="1"/>
          </p:cNvSpPr>
          <p:nvPr>
            <p:ph type="body" idx="1"/>
          </p:nvPr>
        </p:nvSpPr>
        <p:spPr>
          <a:xfrm>
            <a:off x="311700" y="1152475"/>
            <a:ext cx="8520600" cy="3797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a:t>1) What are the limitations of this program? How could it be done more efficiently?</a:t>
            </a:r>
            <a:endParaRPr/>
          </a:p>
          <a:p>
            <a:pPr marL="0" lvl="0" indent="0" algn="l" rtl="0">
              <a:spcBef>
                <a:spcPts val="1200"/>
              </a:spcBef>
              <a:spcAft>
                <a:spcPts val="0"/>
              </a:spcAft>
              <a:buNone/>
            </a:pPr>
            <a:endParaRPr/>
          </a:p>
          <a:p>
            <a:pPr marL="0" lvl="0" indent="0" algn="l" rtl="0">
              <a:spcBef>
                <a:spcPts val="1200"/>
              </a:spcBef>
              <a:spcAft>
                <a:spcPts val="0"/>
              </a:spcAft>
              <a:buNone/>
            </a:pPr>
            <a:r>
              <a:rPr lang="en"/>
              <a:t>2) In the serial monitor, you might see the "Button press detected" message appear multiple times with every button press. Why is this happening? How could it be fixed?</a:t>
            </a:r>
            <a:endParaRPr/>
          </a:p>
          <a:p>
            <a:pPr marL="0" lvl="0" indent="0" algn="l" rtl="0">
              <a:spcBef>
                <a:spcPts val="1200"/>
              </a:spcBef>
              <a:spcAft>
                <a:spcPts val="0"/>
              </a:spcAft>
              <a:buNone/>
            </a:pPr>
            <a:endParaRPr/>
          </a:p>
          <a:p>
            <a:pPr marL="0" lvl="0" indent="0" algn="l" rtl="0">
              <a:spcBef>
                <a:spcPts val="1200"/>
              </a:spcBef>
              <a:spcAft>
                <a:spcPts val="1200"/>
              </a:spcAft>
              <a:buNone/>
            </a:pPr>
            <a:r>
              <a:rPr lang="en"/>
              <a:t>3) In the circuit, why is there a resistor that attaches the button output to ground?</a:t>
            </a:r>
            <a:endParaRPr/>
          </a:p>
        </p:txBody>
      </p:sp>
      <p:sp>
        <p:nvSpPr>
          <p:cNvPr id="231" name="Google Shape;231;p35"/>
          <p:cNvSpPr txBox="1">
            <a:spLocks noGrp="1"/>
          </p:cNvSpPr>
          <p:nvPr>
            <p:ph type="body" idx="1"/>
          </p:nvPr>
        </p:nvSpPr>
        <p:spPr>
          <a:xfrm>
            <a:off x="448200" y="1481400"/>
            <a:ext cx="8520600" cy="837900"/>
          </a:xfrm>
          <a:prstGeom prst="rect">
            <a:avLst/>
          </a:prstGeom>
        </p:spPr>
        <p:txBody>
          <a:bodyPr spcFirstLastPara="1" wrap="square" lIns="91425" tIns="91425" rIns="91425" bIns="91425" anchor="t" anchorCtr="0">
            <a:normAutofit fontScale="70000" lnSpcReduction="20000"/>
          </a:bodyPr>
          <a:lstStyle/>
          <a:p>
            <a:pPr marL="0" lvl="0" indent="0" algn="l" rtl="0">
              <a:lnSpc>
                <a:spcPct val="100000"/>
              </a:lnSpc>
              <a:spcBef>
                <a:spcPts val="0"/>
              </a:spcBef>
              <a:spcAft>
                <a:spcPts val="0"/>
              </a:spcAft>
              <a:buNone/>
            </a:pPr>
            <a:r>
              <a:rPr lang="en">
                <a:solidFill>
                  <a:srgbClr val="FF0000"/>
                </a:solidFill>
              </a:rPr>
              <a:t>- LED "flash" stuttering is noticeable (not true pulse-width modulation).</a:t>
            </a:r>
            <a:endParaRPr>
              <a:solidFill>
                <a:srgbClr val="FF0000"/>
              </a:solidFill>
            </a:endParaRPr>
          </a:p>
          <a:p>
            <a:pPr marL="0" lvl="0" indent="0" algn="l" rtl="0">
              <a:lnSpc>
                <a:spcPct val="100000"/>
              </a:lnSpc>
              <a:spcBef>
                <a:spcPts val="1200"/>
              </a:spcBef>
              <a:spcAft>
                <a:spcPts val="1200"/>
              </a:spcAft>
              <a:buNone/>
            </a:pPr>
            <a:r>
              <a:rPr lang="en">
                <a:solidFill>
                  <a:srgbClr val="FF0000"/>
                </a:solidFill>
              </a:rPr>
              <a:t>- "running_mode" exits the loop inside the function AFTER it finishes; it doesn't switch right away like an interrupt normally would.</a:t>
            </a:r>
            <a:endParaRPr>
              <a:solidFill>
                <a:srgbClr val="FF0000"/>
              </a:solidFill>
            </a:endParaRPr>
          </a:p>
        </p:txBody>
      </p:sp>
      <p:sp>
        <p:nvSpPr>
          <p:cNvPr id="232" name="Google Shape;232;p35"/>
          <p:cNvSpPr txBox="1">
            <a:spLocks noGrp="1"/>
          </p:cNvSpPr>
          <p:nvPr>
            <p:ph type="body" idx="1"/>
          </p:nvPr>
        </p:nvSpPr>
        <p:spPr>
          <a:xfrm>
            <a:off x="327875" y="3070100"/>
            <a:ext cx="8657100" cy="837900"/>
          </a:xfrm>
          <a:prstGeom prst="rect">
            <a:avLst/>
          </a:prstGeom>
        </p:spPr>
        <p:txBody>
          <a:bodyPr spcFirstLastPara="1" wrap="square" lIns="91425" tIns="91425" rIns="91425" bIns="91425" anchor="t" anchorCtr="0">
            <a:normAutofit fontScale="92500"/>
          </a:bodyPr>
          <a:lstStyle/>
          <a:p>
            <a:pPr marL="0" lvl="0" indent="0" algn="l" rtl="0">
              <a:lnSpc>
                <a:spcPct val="70000"/>
              </a:lnSpc>
              <a:spcBef>
                <a:spcPts val="0"/>
              </a:spcBef>
              <a:spcAft>
                <a:spcPts val="0"/>
              </a:spcAft>
              <a:buNone/>
            </a:pPr>
            <a:r>
              <a:rPr lang="en">
                <a:solidFill>
                  <a:srgbClr val="FF0000"/>
                </a:solidFill>
              </a:rPr>
              <a:t>   - The button is actually bouncing up and down, and the sensitive voltage spikes are</a:t>
            </a:r>
            <a:endParaRPr>
              <a:solidFill>
                <a:srgbClr val="FF0000"/>
              </a:solidFill>
            </a:endParaRPr>
          </a:p>
          <a:p>
            <a:pPr marL="0" lvl="0" indent="0" algn="l" rtl="0">
              <a:lnSpc>
                <a:spcPct val="70000"/>
              </a:lnSpc>
              <a:spcBef>
                <a:spcPts val="1200"/>
              </a:spcBef>
              <a:spcAft>
                <a:spcPts val="1200"/>
              </a:spcAft>
              <a:buNone/>
            </a:pPr>
            <a:r>
              <a:rPr lang="en">
                <a:solidFill>
                  <a:srgbClr val="FF0000"/>
                </a:solidFill>
              </a:rPr>
              <a:t>    being picked up. Need to enable "debouncing" in either the hardware or software.</a:t>
            </a:r>
            <a:endParaRPr>
              <a:solidFill>
                <a:srgbClr val="FF0000"/>
              </a:solidFill>
            </a:endParaRPr>
          </a:p>
        </p:txBody>
      </p:sp>
      <p:sp>
        <p:nvSpPr>
          <p:cNvPr id="233" name="Google Shape;233;p35"/>
          <p:cNvSpPr txBox="1">
            <a:spLocks noGrp="1"/>
          </p:cNvSpPr>
          <p:nvPr>
            <p:ph type="body" idx="1"/>
          </p:nvPr>
        </p:nvSpPr>
        <p:spPr>
          <a:xfrm>
            <a:off x="448200" y="4111975"/>
            <a:ext cx="8384100" cy="837900"/>
          </a:xfrm>
          <a:prstGeom prst="rect">
            <a:avLst/>
          </a:prstGeom>
        </p:spPr>
        <p:txBody>
          <a:bodyPr spcFirstLastPara="1" wrap="square" lIns="91425" tIns="91425" rIns="91425" bIns="91425" anchor="t" anchorCtr="0">
            <a:normAutofit/>
          </a:bodyPr>
          <a:lstStyle/>
          <a:p>
            <a:pPr marL="0" lvl="0" indent="0" algn="l" rtl="0">
              <a:lnSpc>
                <a:spcPct val="100000"/>
              </a:lnSpc>
              <a:spcBef>
                <a:spcPts val="0"/>
              </a:spcBef>
              <a:spcAft>
                <a:spcPts val="1200"/>
              </a:spcAft>
              <a:buNone/>
            </a:pPr>
            <a:r>
              <a:rPr lang="en">
                <a:solidFill>
                  <a:srgbClr val="FF0000"/>
                </a:solidFill>
              </a:rPr>
              <a:t>   - “Pull-down” resistor stabilizes the voltage when the button isn’t being pressed, so it doesn’t read “nothing” and give bad values</a:t>
            </a:r>
            <a:endParaRPr>
              <a:solidFill>
                <a:srgbClr val="FF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37"/>
        <p:cNvGrpSpPr/>
        <p:nvPr/>
      </p:nvGrpSpPr>
      <p:grpSpPr>
        <a:xfrm>
          <a:off x="0" y="0"/>
          <a:ext cx="0" cy="0"/>
          <a:chOff x="0" y="0"/>
          <a:chExt cx="0" cy="0"/>
        </a:xfrm>
      </p:grpSpPr>
      <p:pic>
        <p:nvPicPr>
          <p:cNvPr id="238" name="Google Shape;238;p36" title="tbh-creature.gif"/>
          <p:cNvPicPr preferRelativeResize="0"/>
          <p:nvPr/>
        </p:nvPicPr>
        <p:blipFill>
          <a:blip r:embed="rId3">
            <a:alphaModFix/>
          </a:blip>
          <a:stretch>
            <a:fillRect/>
          </a:stretch>
        </p:blipFill>
        <p:spPr>
          <a:xfrm>
            <a:off x="0" y="0"/>
            <a:ext cx="9144000" cy="5143500"/>
          </a:xfrm>
          <a:prstGeom prst="rect">
            <a:avLst/>
          </a:prstGeom>
          <a:noFill/>
          <a:ln>
            <a:noFill/>
          </a:ln>
        </p:spPr>
      </p:pic>
      <p:sp>
        <p:nvSpPr>
          <p:cNvPr id="239" name="Google Shape;239;p3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
              <a:t>Thanks For Coming</a:t>
            </a:r>
            <a:endParaRPr/>
          </a:p>
        </p:txBody>
      </p:sp>
      <p:sp>
        <p:nvSpPr>
          <p:cNvPr id="240" name="Google Shape;240;p3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1200"/>
              </a:spcAft>
              <a:buNone/>
            </a:pPr>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1136</Words>
  <Application>Microsoft Office PowerPoint</Application>
  <PresentationFormat>On-screen Show (16:9)</PresentationFormat>
  <Paragraphs>114</Paragraphs>
  <Slides>24</Slides>
  <Notes>24</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24</vt:i4>
      </vt:variant>
    </vt:vector>
  </HeadingPairs>
  <TitlesOfParts>
    <vt:vector size="26" baseType="lpstr">
      <vt:lpstr>Arial</vt:lpstr>
      <vt:lpstr>Simple Light</vt:lpstr>
      <vt:lpstr>Blinky Workshop</vt:lpstr>
      <vt:lpstr>Download and install the Arduino IDE</vt:lpstr>
      <vt:lpstr>What is an Arduino?</vt:lpstr>
      <vt:lpstr>What We’re Doing Today</vt:lpstr>
      <vt:lpstr>But First, A Little About Electricity</vt:lpstr>
      <vt:lpstr>Ohm’s Law</vt:lpstr>
      <vt:lpstr>The Circuit Diagram</vt:lpstr>
      <vt:lpstr>What You Need</vt:lpstr>
      <vt:lpstr>Breadboards</vt:lpstr>
      <vt:lpstr>LED Orientation</vt:lpstr>
      <vt:lpstr>Wire Up Your Board</vt:lpstr>
      <vt:lpstr>It Doesn’t Do Anything…Yet</vt:lpstr>
      <vt:lpstr>Define Your Input/Output Pins</vt:lpstr>
      <vt:lpstr>The Logic Flow</vt:lpstr>
      <vt:lpstr>Loops</vt:lpstr>
      <vt:lpstr>Function: LED_do_nothing()</vt:lpstr>
      <vt:lpstr>Interrupts</vt:lpstr>
      <vt:lpstr>Add the Interrupt and its Logic</vt:lpstr>
      <vt:lpstr>Function: LED_blink()</vt:lpstr>
      <vt:lpstr>Function: LED_flash()</vt:lpstr>
      <vt:lpstr>Serial Monitor</vt:lpstr>
      <vt:lpstr>Verify and Upload Your Sketch</vt:lpstr>
      <vt:lpstr>Questions</vt:lpstr>
      <vt:lpstr>Thanks For Coming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Jared Wightman</cp:lastModifiedBy>
  <cp:revision>1</cp:revision>
  <dcterms:modified xsi:type="dcterms:W3CDTF">2025-10-23T05:45:57Z</dcterms:modified>
</cp:coreProperties>
</file>