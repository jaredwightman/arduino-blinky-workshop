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c501ade2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c501ade2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c501ade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c501ade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c501ade2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c501ade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c501ade2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c501ade2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c501ade2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c501ade2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c501ade2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c501ade2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c501ade2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c501ade2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c501ade2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c501ade2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c501ade2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c501ade2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c501ade2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c501ade2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c501ade2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c501ade2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c501ade2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c501ade2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c501ade2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c501ade2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c501ade2c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c501ade2c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c501ade2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c501ade2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c501ade2c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c501ade2c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c501ade2c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9c501ade2c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c501ade2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c501ade2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c501ade2c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c501ade2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c501ade2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c501ade2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c501ade2c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9c501ade2c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c501ade2c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c501ade2c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c501ade2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9c501ade2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arduino.cc/en/software/" TargetMode="Externa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9C"/>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745074" y="115550"/>
            <a:ext cx="3653850" cy="3653850"/>
          </a:xfrm>
          <a:prstGeom prst="rect">
            <a:avLst/>
          </a:prstGeom>
          <a:noFill/>
          <a:ln>
            <a:noFill/>
          </a:ln>
        </p:spPr>
      </p:pic>
      <p:sp>
        <p:nvSpPr>
          <p:cNvPr id="55" name="Google Shape;55;p13"/>
          <p:cNvSpPr txBox="1"/>
          <p:nvPr>
            <p:ph type="ctrTitle"/>
          </p:nvPr>
        </p:nvSpPr>
        <p:spPr>
          <a:xfrm>
            <a:off x="311708" y="22805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400">
                <a:solidFill>
                  <a:schemeClr val="lt1"/>
                </a:solidFill>
              </a:rPr>
              <a:t>Blinky Workshop</a:t>
            </a:r>
            <a:endParaRPr sz="3400">
              <a:solidFill>
                <a:schemeClr val="lt1"/>
              </a:solidFill>
            </a:endParaRPr>
          </a:p>
        </p:txBody>
      </p:sp>
      <p:sp>
        <p:nvSpPr>
          <p:cNvPr id="56" name="Google Shape;56;p13"/>
          <p:cNvSpPr txBox="1"/>
          <p:nvPr>
            <p:ph idx="1" type="subTitle"/>
          </p:nvPr>
        </p:nvSpPr>
        <p:spPr>
          <a:xfrm>
            <a:off x="311700" y="42082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400">
                <a:solidFill>
                  <a:schemeClr val="lt1"/>
                </a:solidFill>
              </a:rPr>
              <a:t>BYUI Hackathon</a:t>
            </a:r>
            <a:endParaRPr sz="2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Download and install the Arduino IDE</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u="sng">
                <a:solidFill>
                  <a:schemeClr val="hlink"/>
                </a:solidFill>
                <a:hlinkClick r:id="rId3"/>
              </a:rPr>
              <a:t>https://www.arduino.cc/en/software/</a:t>
            </a:r>
            <a:endParaRPr/>
          </a:p>
        </p:txBody>
      </p:sp>
      <p:pic>
        <p:nvPicPr>
          <p:cNvPr id="63" name="Google Shape;63;p14"/>
          <p:cNvPicPr preferRelativeResize="0"/>
          <p:nvPr/>
        </p:nvPicPr>
        <p:blipFill>
          <a:blip r:embed="rId4">
            <a:alphaModFix/>
          </a:blip>
          <a:stretch>
            <a:fillRect/>
          </a:stretch>
        </p:blipFill>
        <p:spPr>
          <a:xfrm>
            <a:off x="3152725" y="1855150"/>
            <a:ext cx="2838551" cy="28385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an Arduino?</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microcontroller that:</a:t>
            </a:r>
            <a:endParaRPr/>
          </a:p>
          <a:p>
            <a:pPr indent="-342900" lvl="0" marL="457200" rtl="0" algn="l">
              <a:spcBef>
                <a:spcPts val="1200"/>
              </a:spcBef>
              <a:spcAft>
                <a:spcPts val="0"/>
              </a:spcAft>
              <a:buSzPts val="1800"/>
              <a:buChar char="-"/>
            </a:pPr>
            <a:r>
              <a:rPr lang="en"/>
              <a:t>Can send and receive electrical signals</a:t>
            </a:r>
            <a:endParaRPr/>
          </a:p>
          <a:p>
            <a:pPr indent="-342900" lvl="0" marL="457200" rtl="0" algn="l">
              <a:spcBef>
                <a:spcPts val="0"/>
              </a:spcBef>
              <a:spcAft>
                <a:spcPts val="0"/>
              </a:spcAft>
              <a:buSzPts val="1800"/>
              <a:buChar char="-"/>
            </a:pPr>
            <a:r>
              <a:rPr lang="en"/>
              <a:t>Can be programmed (using Arduino IDE)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Uses its programming and input/output ports to make an </a:t>
            </a:r>
            <a:r>
              <a:rPr lang="en" u="sng"/>
              <a:t>embedded system </a:t>
            </a:r>
            <a:r>
              <a:rPr lang="en"/>
              <a:t>that interfaces with the real world</a:t>
            </a:r>
            <a:endParaRPr/>
          </a:p>
        </p:txBody>
      </p:sp>
      <p:pic>
        <p:nvPicPr>
          <p:cNvPr id="70" name="Google Shape;70;p15"/>
          <p:cNvPicPr preferRelativeResize="0"/>
          <p:nvPr/>
        </p:nvPicPr>
        <p:blipFill>
          <a:blip r:embed="rId3">
            <a:alphaModFix/>
          </a:blip>
          <a:stretch>
            <a:fillRect/>
          </a:stretch>
        </p:blipFill>
        <p:spPr>
          <a:xfrm>
            <a:off x="5251300" y="224825"/>
            <a:ext cx="3581000" cy="2685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We’re Doing Today</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this workshop, we will make a “blinky” that flashes a light. We will need to:</a:t>
            </a:r>
            <a:endParaRPr/>
          </a:p>
          <a:p>
            <a:pPr indent="-342900" lvl="0" marL="457200" rtl="0" algn="l">
              <a:spcBef>
                <a:spcPts val="1200"/>
              </a:spcBef>
              <a:spcAft>
                <a:spcPts val="0"/>
              </a:spcAft>
              <a:buSzPts val="1800"/>
              <a:buAutoNum type="arabicParenR"/>
            </a:pPr>
            <a:r>
              <a:rPr lang="en"/>
              <a:t>Wire up an electrical circuit</a:t>
            </a:r>
            <a:endParaRPr/>
          </a:p>
          <a:p>
            <a:pPr indent="-342900" lvl="0" marL="457200" rtl="0" algn="l">
              <a:spcBef>
                <a:spcPts val="0"/>
              </a:spcBef>
              <a:spcAft>
                <a:spcPts val="0"/>
              </a:spcAft>
              <a:buSzPts val="1800"/>
              <a:buAutoNum type="arabicParenR"/>
            </a:pPr>
            <a:r>
              <a:rPr lang="en"/>
              <a:t>Connect the circuit to the Arduino externally (wires) and internally (code)</a:t>
            </a:r>
            <a:endParaRPr/>
          </a:p>
          <a:p>
            <a:pPr indent="-342900" lvl="0" marL="457200" rtl="0" algn="l">
              <a:spcBef>
                <a:spcPts val="0"/>
              </a:spcBef>
              <a:spcAft>
                <a:spcPts val="0"/>
              </a:spcAft>
              <a:buSzPts val="1800"/>
              <a:buAutoNum type="arabicParenR"/>
            </a:pPr>
            <a:r>
              <a:rPr lang="en"/>
              <a:t>Write the program to control the Arduino (C Language)</a:t>
            </a:r>
            <a:endParaRPr/>
          </a:p>
          <a:p>
            <a:pPr indent="-342900" lvl="0" marL="457200" rtl="0" algn="l">
              <a:spcBef>
                <a:spcPts val="0"/>
              </a:spcBef>
              <a:spcAft>
                <a:spcPts val="0"/>
              </a:spcAft>
              <a:buSzPts val="1800"/>
              <a:buAutoNum type="arabicParenR"/>
            </a:pPr>
            <a:r>
              <a:rPr lang="en"/>
              <a:t>Run 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First, A Little About Electricity</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Electricity is defined as the flow of electrons through a wire that powers machines and sends signals</a:t>
            </a:r>
            <a:endParaRPr/>
          </a:p>
          <a:p>
            <a:pPr indent="-342900" lvl="0" marL="457200" rtl="0" algn="l">
              <a:spcBef>
                <a:spcPts val="0"/>
              </a:spcBef>
              <a:spcAft>
                <a:spcPts val="0"/>
              </a:spcAft>
              <a:buSzPts val="1800"/>
              <a:buChar char="-"/>
            </a:pPr>
            <a:r>
              <a:rPr lang="en"/>
              <a:t>Electricity can be dangerous, but at this level it’s weak enough to be harmless</a:t>
            </a:r>
            <a:endParaRPr/>
          </a:p>
          <a:p>
            <a:pPr indent="-342900" lvl="0" marL="457200" rtl="0" algn="l">
              <a:spcBef>
                <a:spcPts val="0"/>
              </a:spcBef>
              <a:spcAft>
                <a:spcPts val="0"/>
              </a:spcAft>
              <a:buSzPts val="1800"/>
              <a:buChar char="-"/>
            </a:pPr>
            <a:r>
              <a:rPr lang="en"/>
              <a:t>HOWEVER: If a circuit is wired incorrectly, it CAN harm your equipment</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It has numerical properties which need to be balanced across a circuit, and are represented by mathematical variables and equations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Ohm’s Law</a:t>
            </a:r>
            <a:endParaRPr/>
          </a:p>
        </p:txBody>
      </p:sp>
      <p:sp>
        <p:nvSpPr>
          <p:cNvPr id="88" name="Google Shape;88;p18"/>
          <p:cNvSpPr txBox="1"/>
          <p:nvPr>
            <p:ph idx="1" type="body"/>
          </p:nvPr>
        </p:nvSpPr>
        <p:spPr>
          <a:xfrm>
            <a:off x="311700" y="1152475"/>
            <a:ext cx="5328300" cy="378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Basic components of electricity:</a:t>
            </a:r>
            <a:endParaRPr/>
          </a:p>
          <a:p>
            <a:pPr indent="-342900" lvl="0" marL="457200" rtl="0" algn="l">
              <a:spcBef>
                <a:spcPts val="1200"/>
              </a:spcBef>
              <a:spcAft>
                <a:spcPts val="0"/>
              </a:spcAft>
              <a:buSzPts val="1800"/>
              <a:buChar char="-"/>
            </a:pPr>
            <a:r>
              <a:rPr lang="en"/>
              <a:t>Voltage: electrical potential, the “push” of flow</a:t>
            </a:r>
            <a:endParaRPr/>
          </a:p>
          <a:p>
            <a:pPr indent="-342900" lvl="0" marL="457200" rtl="0" algn="l">
              <a:spcBef>
                <a:spcPts val="0"/>
              </a:spcBef>
              <a:spcAft>
                <a:spcPts val="0"/>
              </a:spcAft>
              <a:buSzPts val="1800"/>
              <a:buChar char="-"/>
            </a:pPr>
            <a:r>
              <a:rPr lang="en"/>
              <a:t>Current: the rate of flow</a:t>
            </a:r>
            <a:endParaRPr/>
          </a:p>
          <a:p>
            <a:pPr indent="-342900" lvl="0" marL="457200" rtl="0" algn="l">
              <a:spcBef>
                <a:spcPts val="0"/>
              </a:spcBef>
              <a:spcAft>
                <a:spcPts val="0"/>
              </a:spcAft>
              <a:buSzPts val="1800"/>
              <a:buChar char="-"/>
            </a:pPr>
            <a:r>
              <a:rPr lang="en"/>
              <a:t>Resistance: the opposition to current flow</a:t>
            </a:r>
            <a:endParaRPr/>
          </a:p>
          <a:p>
            <a:pPr indent="0" lvl="0" marL="0" rtl="0" algn="l">
              <a:spcBef>
                <a:spcPts val="1200"/>
              </a:spcBef>
              <a:spcAft>
                <a:spcPts val="0"/>
              </a:spcAft>
              <a:buNone/>
            </a:pPr>
            <a:r>
              <a:rPr lang="en" sz="2500"/>
              <a:t>V = I * R</a:t>
            </a:r>
            <a:endParaRPr sz="2500"/>
          </a:p>
          <a:p>
            <a:pPr indent="0" lvl="0" marL="0" rtl="0" algn="l">
              <a:spcBef>
                <a:spcPts val="1200"/>
              </a:spcBef>
              <a:spcAft>
                <a:spcPts val="0"/>
              </a:spcAft>
              <a:buNone/>
            </a:pPr>
            <a:r>
              <a:t/>
            </a:r>
            <a:endParaRPr sz="1600"/>
          </a:p>
          <a:p>
            <a:pPr indent="0" lvl="0" marL="0" rtl="0" algn="l">
              <a:lnSpc>
                <a:spcPct val="100000"/>
              </a:lnSpc>
              <a:spcBef>
                <a:spcPts val="1200"/>
              </a:spcBef>
              <a:spcAft>
                <a:spcPts val="0"/>
              </a:spcAft>
              <a:buNone/>
            </a:pPr>
            <a:r>
              <a:rPr lang="en" sz="1600"/>
              <a:t>We aren’t going to calculate anything today, but this </a:t>
            </a:r>
            <a:endParaRPr sz="1600"/>
          </a:p>
          <a:p>
            <a:pPr indent="0" lvl="0" marL="0" rtl="0" algn="l">
              <a:lnSpc>
                <a:spcPct val="100000"/>
              </a:lnSpc>
              <a:spcBef>
                <a:spcPts val="1200"/>
              </a:spcBef>
              <a:spcAft>
                <a:spcPts val="1200"/>
              </a:spcAft>
              <a:buNone/>
            </a:pPr>
            <a:r>
              <a:rPr lang="en" sz="1600"/>
              <a:t>essential for making your own circuits</a:t>
            </a:r>
            <a:endParaRPr sz="1600"/>
          </a:p>
        </p:txBody>
      </p:sp>
      <p:pic>
        <p:nvPicPr>
          <p:cNvPr id="89" name="Google Shape;89;p18"/>
          <p:cNvPicPr preferRelativeResize="0"/>
          <p:nvPr/>
        </p:nvPicPr>
        <p:blipFill>
          <a:blip r:embed="rId3">
            <a:alphaModFix/>
          </a:blip>
          <a:stretch>
            <a:fillRect/>
          </a:stretch>
        </p:blipFill>
        <p:spPr>
          <a:xfrm>
            <a:off x="5093525" y="2571750"/>
            <a:ext cx="3938050" cy="2461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Circuit Diagram</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is the diagram for electrical connectivity.</a:t>
            </a:r>
            <a:endParaRPr/>
          </a:p>
        </p:txBody>
      </p:sp>
      <p:pic>
        <p:nvPicPr>
          <p:cNvPr id="96" name="Google Shape;96;p19"/>
          <p:cNvPicPr preferRelativeResize="0"/>
          <p:nvPr/>
        </p:nvPicPr>
        <p:blipFill>
          <a:blip r:embed="rId3">
            <a:alphaModFix/>
          </a:blip>
          <a:stretch>
            <a:fillRect/>
          </a:stretch>
        </p:blipFill>
        <p:spPr>
          <a:xfrm>
            <a:off x="3374475" y="1801925"/>
            <a:ext cx="4682601" cy="3079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You Need</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1x Arduino Uno w/ USB cable</a:t>
            </a:r>
            <a:endParaRPr/>
          </a:p>
          <a:p>
            <a:pPr indent="0" lvl="0" marL="0" rtl="0" algn="l">
              <a:spcBef>
                <a:spcPts val="1200"/>
              </a:spcBef>
              <a:spcAft>
                <a:spcPts val="0"/>
              </a:spcAft>
              <a:buNone/>
            </a:pPr>
            <a:r>
              <a:rPr lang="en"/>
              <a:t>1x Breadboard</a:t>
            </a:r>
            <a:endParaRPr/>
          </a:p>
          <a:p>
            <a:pPr indent="0" lvl="0" marL="0" rtl="0" algn="l">
              <a:spcBef>
                <a:spcPts val="1200"/>
              </a:spcBef>
              <a:spcAft>
                <a:spcPts val="0"/>
              </a:spcAft>
              <a:buNone/>
            </a:pPr>
            <a:r>
              <a:rPr lang="en"/>
              <a:t>1x Push Button</a:t>
            </a:r>
            <a:endParaRPr/>
          </a:p>
          <a:p>
            <a:pPr indent="0" lvl="0" marL="0" rtl="0" algn="l">
              <a:spcBef>
                <a:spcPts val="1200"/>
              </a:spcBef>
              <a:spcAft>
                <a:spcPts val="0"/>
              </a:spcAft>
              <a:buNone/>
            </a:pPr>
            <a:r>
              <a:rPr lang="en"/>
              <a:t>1x LED</a:t>
            </a:r>
            <a:endParaRPr/>
          </a:p>
          <a:p>
            <a:pPr indent="0" lvl="0" marL="0" rtl="0" algn="l">
              <a:spcBef>
                <a:spcPts val="1200"/>
              </a:spcBef>
              <a:spcAft>
                <a:spcPts val="0"/>
              </a:spcAft>
              <a:buNone/>
            </a:pPr>
            <a:r>
              <a:rPr lang="en"/>
              <a:t>2x Resistors</a:t>
            </a:r>
            <a:endParaRPr/>
          </a:p>
          <a:p>
            <a:pPr indent="0" lvl="0" marL="0" rtl="0" algn="l">
              <a:spcBef>
                <a:spcPts val="1200"/>
              </a:spcBef>
              <a:spcAft>
                <a:spcPts val="1200"/>
              </a:spcAft>
              <a:buNone/>
            </a:pPr>
            <a:r>
              <a:rPr lang="en"/>
              <a:t>4+ Jumper Wires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Breadboards</a:t>
            </a:r>
            <a:endParaRPr/>
          </a:p>
        </p:txBody>
      </p:sp>
      <p:sp>
        <p:nvSpPr>
          <p:cNvPr id="108" name="Google Shape;108;p21"/>
          <p:cNvSpPr txBox="1"/>
          <p:nvPr>
            <p:ph idx="1" type="body"/>
          </p:nvPr>
        </p:nvSpPr>
        <p:spPr>
          <a:xfrm>
            <a:off x="311700" y="1152475"/>
            <a:ext cx="3126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Give a solid foundation for wire connections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Internal Connectivity</a:t>
            </a:r>
            <a:endParaRPr/>
          </a:p>
          <a:p>
            <a:pPr indent="-342900" lvl="0" marL="457200" rtl="0" algn="l">
              <a:spcBef>
                <a:spcPts val="1200"/>
              </a:spcBef>
              <a:spcAft>
                <a:spcPts val="0"/>
              </a:spcAft>
              <a:buSzPts val="1800"/>
              <a:buChar char="-"/>
            </a:pPr>
            <a:r>
              <a:rPr lang="en"/>
              <a:t>Horizontal rows (top/bottom of board)</a:t>
            </a:r>
            <a:endParaRPr/>
          </a:p>
          <a:p>
            <a:pPr indent="-342900" lvl="0" marL="457200" rtl="0" algn="l">
              <a:spcBef>
                <a:spcPts val="0"/>
              </a:spcBef>
              <a:spcAft>
                <a:spcPts val="0"/>
              </a:spcAft>
              <a:buSzPts val="1800"/>
              <a:buChar char="-"/>
            </a:pPr>
            <a:r>
              <a:rPr lang="en"/>
              <a:t>Each individual column (connection doesn’t span gap)</a:t>
            </a:r>
            <a:endParaRPr/>
          </a:p>
        </p:txBody>
      </p:sp>
      <p:pic>
        <p:nvPicPr>
          <p:cNvPr id="109" name="Google Shape;109;p21"/>
          <p:cNvPicPr preferRelativeResize="0"/>
          <p:nvPr/>
        </p:nvPicPr>
        <p:blipFill>
          <a:blip r:embed="rId3">
            <a:alphaModFix/>
          </a:blip>
          <a:stretch>
            <a:fillRect/>
          </a:stretch>
        </p:blipFill>
        <p:spPr>
          <a:xfrm>
            <a:off x="3651200" y="380999"/>
            <a:ext cx="5023276" cy="4183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2"/>
          <p:cNvPicPr preferRelativeResize="0"/>
          <p:nvPr/>
        </p:nvPicPr>
        <p:blipFill>
          <a:blip r:embed="rId3">
            <a:alphaModFix/>
          </a:blip>
          <a:stretch>
            <a:fillRect/>
          </a:stretch>
        </p:blipFill>
        <p:spPr>
          <a:xfrm>
            <a:off x="0" y="0"/>
            <a:ext cx="9144010" cy="5143500"/>
          </a:xfrm>
          <a:prstGeom prst="rect">
            <a:avLst/>
          </a:prstGeom>
          <a:noFill/>
          <a:ln>
            <a:noFill/>
          </a:ln>
        </p:spPr>
      </p:pic>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LED Orientation</a:t>
            </a:r>
            <a:endParaRPr/>
          </a:p>
        </p:txBody>
      </p:sp>
      <p:sp>
        <p:nvSpPr>
          <p:cNvPr id="116" name="Google Shape;116;p22"/>
          <p:cNvSpPr txBox="1"/>
          <p:nvPr>
            <p:ph idx="1" type="body"/>
          </p:nvPr>
        </p:nvSpPr>
        <p:spPr>
          <a:xfrm>
            <a:off x="311700" y="4550150"/>
            <a:ext cx="8520600" cy="4872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1200"/>
              </a:spcAft>
              <a:buNone/>
            </a:pPr>
            <a:r>
              <a:rPr lang="en"/>
              <a:t>LEDs are designed to take current flow from one direction. Pay attention to the legs!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Wire Up Your Board</a:t>
            </a:r>
            <a:endParaRPr/>
          </a:p>
        </p:txBody>
      </p:sp>
      <p:sp>
        <p:nvSpPr>
          <p:cNvPr id="122" name="Google Shape;12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3" name="Google Shape;123;p23"/>
          <p:cNvPicPr preferRelativeResize="0"/>
          <p:nvPr/>
        </p:nvPicPr>
        <p:blipFill>
          <a:blip r:embed="rId3">
            <a:alphaModFix/>
          </a:blip>
          <a:stretch>
            <a:fillRect/>
          </a:stretch>
        </p:blipFill>
        <p:spPr>
          <a:xfrm>
            <a:off x="1586300" y="1152475"/>
            <a:ext cx="5971399" cy="3881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 Doesn’t Do Anything…Yet</a:t>
            </a:r>
            <a:endParaRPr/>
          </a:p>
        </p:txBody>
      </p:sp>
      <p:sp>
        <p:nvSpPr>
          <p:cNvPr id="129" name="Google Shape;129;p24"/>
          <p:cNvSpPr txBox="1"/>
          <p:nvPr>
            <p:ph idx="1" type="body"/>
          </p:nvPr>
        </p:nvSpPr>
        <p:spPr>
          <a:xfrm>
            <a:off x="4971600" y="1152475"/>
            <a:ext cx="3860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Open up Arduino IDE and create a new sketch. This is the script that we will send to our Arduino to control our circuit.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Plug in your Arduino and select it in the device selector. It will be on one of your COM ports which connect to your USB devices.</a:t>
            </a:r>
            <a:endParaRPr/>
          </a:p>
          <a:p>
            <a:pPr indent="0" lvl="0" marL="0" rtl="0" algn="l">
              <a:spcBef>
                <a:spcPts val="1200"/>
              </a:spcBef>
              <a:spcAft>
                <a:spcPts val="1200"/>
              </a:spcAft>
              <a:buNone/>
            </a:pPr>
            <a:r>
              <a:t/>
            </a:r>
            <a:endParaRPr/>
          </a:p>
        </p:txBody>
      </p:sp>
      <p:pic>
        <p:nvPicPr>
          <p:cNvPr id="130" name="Google Shape;130;p24"/>
          <p:cNvPicPr preferRelativeResize="0"/>
          <p:nvPr/>
        </p:nvPicPr>
        <p:blipFill>
          <a:blip r:embed="rId3">
            <a:alphaModFix/>
          </a:blip>
          <a:stretch>
            <a:fillRect/>
          </a:stretch>
        </p:blipFill>
        <p:spPr>
          <a:xfrm>
            <a:off x="249225" y="1601425"/>
            <a:ext cx="4485075" cy="2518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Define Your Input/Output Pins</a:t>
            </a:r>
            <a:endParaRPr/>
          </a:p>
        </p:txBody>
      </p:sp>
      <p:sp>
        <p:nvSpPr>
          <p:cNvPr id="136" name="Google Shape;13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Arduino can’t manipulate any of the electrical pins yet. We need to define them as inputs (things to read) or outputs (things to write to). Follow along with the code below: </a:t>
            </a:r>
            <a:endParaRPr/>
          </a:p>
        </p:txBody>
      </p:sp>
      <p:pic>
        <p:nvPicPr>
          <p:cNvPr id="137" name="Google Shape;137;p25"/>
          <p:cNvPicPr preferRelativeResize="0"/>
          <p:nvPr/>
        </p:nvPicPr>
        <p:blipFill>
          <a:blip r:embed="rId3">
            <a:alphaModFix/>
          </a:blip>
          <a:stretch>
            <a:fillRect/>
          </a:stretch>
        </p:blipFill>
        <p:spPr>
          <a:xfrm>
            <a:off x="0" y="2220094"/>
            <a:ext cx="9144000" cy="28141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Logic Flow</a:t>
            </a:r>
            <a:endParaRPr/>
          </a:p>
        </p:txBody>
      </p:sp>
      <p:sp>
        <p:nvSpPr>
          <p:cNvPr id="143" name="Google Shape;143;p26"/>
          <p:cNvSpPr txBox="1"/>
          <p:nvPr>
            <p:ph idx="1" type="body"/>
          </p:nvPr>
        </p:nvSpPr>
        <p:spPr>
          <a:xfrm>
            <a:off x="311700" y="1152475"/>
            <a:ext cx="4922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Our goal is to make our circuit enter different “modes.” We want a state where the LED is turned off, a state where the LED is blinking, and a state where the LED is flashing.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are going to make a state machine, a circuit that has different “tasks” that it can switch between. </a:t>
            </a:r>
            <a:endParaRPr/>
          </a:p>
        </p:txBody>
      </p:sp>
      <p:sp>
        <p:nvSpPr>
          <p:cNvPr id="144" name="Google Shape;144;p26"/>
          <p:cNvSpPr/>
          <p:nvPr/>
        </p:nvSpPr>
        <p:spPr>
          <a:xfrm>
            <a:off x="6366450" y="1152475"/>
            <a:ext cx="1608300" cy="1097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6"/>
          <p:cNvSpPr/>
          <p:nvPr/>
        </p:nvSpPr>
        <p:spPr>
          <a:xfrm>
            <a:off x="7333300" y="3047375"/>
            <a:ext cx="1608300" cy="1097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6"/>
          <p:cNvSpPr/>
          <p:nvPr/>
        </p:nvSpPr>
        <p:spPr>
          <a:xfrm>
            <a:off x="4758150" y="2668850"/>
            <a:ext cx="1608300" cy="1097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6"/>
          <p:cNvSpPr txBox="1"/>
          <p:nvPr/>
        </p:nvSpPr>
        <p:spPr>
          <a:xfrm>
            <a:off x="6571200" y="1470475"/>
            <a:ext cx="1239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LED OFF</a:t>
            </a:r>
            <a:endParaRPr b="1" sz="1800">
              <a:solidFill>
                <a:schemeClr val="dk2"/>
              </a:solidFill>
            </a:endParaRPr>
          </a:p>
        </p:txBody>
      </p:sp>
      <p:sp>
        <p:nvSpPr>
          <p:cNvPr id="148" name="Google Shape;148;p26"/>
          <p:cNvSpPr txBox="1"/>
          <p:nvPr/>
        </p:nvSpPr>
        <p:spPr>
          <a:xfrm>
            <a:off x="7425550" y="3226775"/>
            <a:ext cx="1423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LED BLINKING</a:t>
            </a:r>
            <a:endParaRPr b="1" sz="1800">
              <a:solidFill>
                <a:schemeClr val="dk2"/>
              </a:solidFill>
            </a:endParaRPr>
          </a:p>
        </p:txBody>
      </p:sp>
      <p:sp>
        <p:nvSpPr>
          <p:cNvPr id="149" name="Google Shape;149;p26"/>
          <p:cNvSpPr txBox="1"/>
          <p:nvPr/>
        </p:nvSpPr>
        <p:spPr>
          <a:xfrm>
            <a:off x="4850400" y="2848250"/>
            <a:ext cx="1423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LED FLASHING</a:t>
            </a:r>
            <a:endParaRPr b="1" sz="1800">
              <a:solidFill>
                <a:schemeClr val="dk2"/>
              </a:solidFill>
            </a:endParaRPr>
          </a:p>
        </p:txBody>
      </p:sp>
      <p:sp>
        <p:nvSpPr>
          <p:cNvPr id="150" name="Google Shape;150;p26"/>
          <p:cNvSpPr txBox="1"/>
          <p:nvPr/>
        </p:nvSpPr>
        <p:spPr>
          <a:xfrm>
            <a:off x="6243150" y="178050"/>
            <a:ext cx="1854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rPr>
              <a:t>Start</a:t>
            </a:r>
            <a:endParaRPr b="1" sz="1800">
              <a:solidFill>
                <a:schemeClr val="dk2"/>
              </a:solidFill>
            </a:endParaRPr>
          </a:p>
        </p:txBody>
      </p:sp>
      <p:sp>
        <p:nvSpPr>
          <p:cNvPr id="151" name="Google Shape;151;p26"/>
          <p:cNvSpPr txBox="1"/>
          <p:nvPr/>
        </p:nvSpPr>
        <p:spPr>
          <a:xfrm rot="3877960">
            <a:off x="7625374" y="2194154"/>
            <a:ext cx="1854955" cy="400032"/>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Button Press</a:t>
            </a:r>
            <a:endParaRPr b="1">
              <a:solidFill>
                <a:schemeClr val="dk2"/>
              </a:solidFill>
            </a:endParaRPr>
          </a:p>
        </p:txBody>
      </p:sp>
      <p:sp>
        <p:nvSpPr>
          <p:cNvPr id="152" name="Google Shape;152;p26"/>
          <p:cNvSpPr txBox="1"/>
          <p:nvPr/>
        </p:nvSpPr>
        <p:spPr>
          <a:xfrm rot="602476">
            <a:off x="5763441" y="3925167"/>
            <a:ext cx="1854811" cy="400054"/>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Button Press</a:t>
            </a:r>
            <a:endParaRPr b="1">
              <a:solidFill>
                <a:schemeClr val="dk2"/>
              </a:solidFill>
            </a:endParaRPr>
          </a:p>
        </p:txBody>
      </p:sp>
      <p:sp>
        <p:nvSpPr>
          <p:cNvPr id="153" name="Google Shape;153;p26"/>
          <p:cNvSpPr txBox="1"/>
          <p:nvPr/>
        </p:nvSpPr>
        <p:spPr>
          <a:xfrm rot="-2491871">
            <a:off x="4749862" y="1732898"/>
            <a:ext cx="1854674" cy="40018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Button Press</a:t>
            </a:r>
            <a:endParaRPr b="1">
              <a:solidFill>
                <a:schemeClr val="dk2"/>
              </a:solidFill>
            </a:endParaRPr>
          </a:p>
        </p:txBody>
      </p:sp>
      <p:sp>
        <p:nvSpPr>
          <p:cNvPr id="154" name="Google Shape;154;p26"/>
          <p:cNvSpPr/>
          <p:nvPr/>
        </p:nvSpPr>
        <p:spPr>
          <a:xfrm rot="4109036">
            <a:off x="7723569" y="2348609"/>
            <a:ext cx="827784" cy="167685"/>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6"/>
          <p:cNvSpPr/>
          <p:nvPr/>
        </p:nvSpPr>
        <p:spPr>
          <a:xfrm rot="-10219152">
            <a:off x="6389850" y="3655547"/>
            <a:ext cx="827788" cy="167688"/>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6"/>
          <p:cNvSpPr/>
          <p:nvPr/>
        </p:nvSpPr>
        <p:spPr>
          <a:xfrm rot="-2402693">
            <a:off x="5488828" y="2119266"/>
            <a:ext cx="827650" cy="167781"/>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6"/>
          <p:cNvSpPr/>
          <p:nvPr/>
        </p:nvSpPr>
        <p:spPr>
          <a:xfrm>
            <a:off x="7082250" y="586681"/>
            <a:ext cx="176700" cy="4617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Loops</a:t>
            </a:r>
            <a:endParaRPr/>
          </a:p>
        </p:txBody>
      </p:sp>
      <p:sp>
        <p:nvSpPr>
          <p:cNvPr id="163" name="Google Shape;163;p27"/>
          <p:cNvSpPr txBox="1"/>
          <p:nvPr>
            <p:ph idx="1" type="body"/>
          </p:nvPr>
        </p:nvSpPr>
        <p:spPr>
          <a:xfrm>
            <a:off x="311700" y="1152475"/>
            <a:ext cx="8520600" cy="81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Normally the project code is put into the default loop that runs forever. Instead, we are going to make a function for every state and runs loops inside them.</a:t>
            </a:r>
            <a:endParaRPr/>
          </a:p>
        </p:txBody>
      </p:sp>
      <p:pic>
        <p:nvPicPr>
          <p:cNvPr id="164" name="Google Shape;164;p27"/>
          <p:cNvPicPr preferRelativeResize="0"/>
          <p:nvPr/>
        </p:nvPicPr>
        <p:blipFill>
          <a:blip r:embed="rId3">
            <a:alphaModFix/>
          </a:blip>
          <a:stretch>
            <a:fillRect/>
          </a:stretch>
        </p:blipFill>
        <p:spPr>
          <a:xfrm>
            <a:off x="1536500" y="1965475"/>
            <a:ext cx="6071000" cy="1578625"/>
          </a:xfrm>
          <a:prstGeom prst="rect">
            <a:avLst/>
          </a:prstGeom>
          <a:noFill/>
          <a:ln>
            <a:noFill/>
          </a:ln>
        </p:spPr>
      </p:pic>
      <p:sp>
        <p:nvSpPr>
          <p:cNvPr id="165" name="Google Shape;165;p27"/>
          <p:cNvSpPr txBox="1"/>
          <p:nvPr>
            <p:ph idx="1" type="body"/>
          </p:nvPr>
        </p:nvSpPr>
        <p:spPr>
          <a:xfrm>
            <a:off x="311700" y="3466900"/>
            <a:ext cx="8520600" cy="1074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When we want to change the state, we will break the loop and finish the rest of the function, which calls the next state in line. We will use a global variable for this. Below your define statements, add:</a:t>
            </a:r>
            <a:endParaRPr/>
          </a:p>
        </p:txBody>
      </p:sp>
      <p:pic>
        <p:nvPicPr>
          <p:cNvPr id="166" name="Google Shape;166;p27"/>
          <p:cNvPicPr preferRelativeResize="0"/>
          <p:nvPr/>
        </p:nvPicPr>
        <p:blipFill>
          <a:blip r:embed="rId4">
            <a:alphaModFix/>
          </a:blip>
          <a:stretch>
            <a:fillRect/>
          </a:stretch>
        </p:blipFill>
        <p:spPr>
          <a:xfrm>
            <a:off x="2381250" y="4541800"/>
            <a:ext cx="4381500" cy="209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 LED_do_nothing()</a:t>
            </a:r>
            <a:endParaRPr/>
          </a:p>
        </p:txBody>
      </p:sp>
      <p:sp>
        <p:nvSpPr>
          <p:cNvPr id="172" name="Google Shape;172;p28"/>
          <p:cNvSpPr txBox="1"/>
          <p:nvPr>
            <p:ph idx="1" type="body"/>
          </p:nvPr>
        </p:nvSpPr>
        <p:spPr>
          <a:xfrm>
            <a:off x="311700" y="1152475"/>
            <a:ext cx="2034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73" name="Google Shape;173;p28"/>
          <p:cNvPicPr preferRelativeResize="0"/>
          <p:nvPr/>
        </p:nvPicPr>
        <p:blipFill>
          <a:blip r:embed="rId3">
            <a:alphaModFix/>
          </a:blip>
          <a:stretch>
            <a:fillRect/>
          </a:stretch>
        </p:blipFill>
        <p:spPr>
          <a:xfrm>
            <a:off x="1263950" y="1596738"/>
            <a:ext cx="6616099" cy="1950025"/>
          </a:xfrm>
          <a:prstGeom prst="rect">
            <a:avLst/>
          </a:prstGeom>
          <a:noFill/>
          <a:ln>
            <a:noFill/>
          </a:ln>
        </p:spPr>
      </p:pic>
      <p:sp>
        <p:nvSpPr>
          <p:cNvPr id="174" name="Google Shape;174;p28"/>
          <p:cNvSpPr txBox="1"/>
          <p:nvPr>
            <p:ph idx="1" type="body"/>
          </p:nvPr>
        </p:nvSpPr>
        <p:spPr>
          <a:xfrm>
            <a:off x="311700" y="1152475"/>
            <a:ext cx="8520600" cy="81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Copy the following function below the main loop:</a:t>
            </a:r>
            <a:endParaRPr/>
          </a:p>
        </p:txBody>
      </p:sp>
      <p:sp>
        <p:nvSpPr>
          <p:cNvPr id="175" name="Google Shape;175;p28"/>
          <p:cNvSpPr txBox="1"/>
          <p:nvPr>
            <p:ph idx="1" type="body"/>
          </p:nvPr>
        </p:nvSpPr>
        <p:spPr>
          <a:xfrm>
            <a:off x="311700" y="3546775"/>
            <a:ext cx="8520600" cy="1206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digitalWrite(): Sets an output pin to HIGH or LOW, a logical 1 or 0. This turns on/off our LED.</a:t>
            </a:r>
            <a:endParaRPr/>
          </a:p>
          <a:p>
            <a:pPr indent="0" lvl="0" marL="0" rtl="0" algn="l">
              <a:spcBef>
                <a:spcPts val="1200"/>
              </a:spcBef>
              <a:spcAft>
                <a:spcPts val="1200"/>
              </a:spcAft>
              <a:buNone/>
            </a:pPr>
            <a:r>
              <a:rPr lang="en"/>
              <a:t>delay(): Makes the program wait for a time in milliseconds.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Interrupts</a:t>
            </a:r>
            <a:endParaRPr/>
          </a:p>
        </p:txBody>
      </p:sp>
      <p:sp>
        <p:nvSpPr>
          <p:cNvPr id="181" name="Google Shape;18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But wait? How is “running_mode” supposed to change if the program is stuck inside the while() loop?</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Many programs need to be able to execute changes instantly without </a:t>
            </a:r>
            <a:r>
              <a:rPr lang="en"/>
              <a:t>waiting</a:t>
            </a:r>
            <a:r>
              <a:rPr lang="en"/>
              <a:t> for current processes to finish. These “instant” executions are called interrupts.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The Arduino has the ability to “pause” what it’s doing in order to handle these important tasks when they come up, and then go back to what it was doing before.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Add the Interrupt and its Logic</a:t>
            </a:r>
            <a:endParaRPr/>
          </a:p>
        </p:txBody>
      </p:sp>
      <p:sp>
        <p:nvSpPr>
          <p:cNvPr id="187" name="Google Shape;187;p30"/>
          <p:cNvSpPr txBox="1"/>
          <p:nvPr>
            <p:ph idx="1" type="body"/>
          </p:nvPr>
        </p:nvSpPr>
        <p:spPr>
          <a:xfrm>
            <a:off x="311700" y="1152475"/>
            <a:ext cx="8520600" cy="160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 in setup():</a:t>
            </a:r>
            <a:endParaRPr/>
          </a:p>
          <a:p>
            <a:pPr indent="0" lvl="0" marL="0" rtl="0" algn="l">
              <a:spcBef>
                <a:spcPts val="1200"/>
              </a:spcBef>
              <a:spcAft>
                <a:spcPts val="1200"/>
              </a:spcAft>
              <a:buNone/>
            </a:pPr>
            <a:r>
              <a:t/>
            </a:r>
            <a:endParaRPr/>
          </a:p>
        </p:txBody>
      </p:sp>
      <p:pic>
        <p:nvPicPr>
          <p:cNvPr id="188" name="Google Shape;188;p30"/>
          <p:cNvPicPr preferRelativeResize="0"/>
          <p:nvPr/>
        </p:nvPicPr>
        <p:blipFill>
          <a:blip r:embed="rId3">
            <a:alphaModFix/>
          </a:blip>
          <a:stretch>
            <a:fillRect/>
          </a:stretch>
        </p:blipFill>
        <p:spPr>
          <a:xfrm>
            <a:off x="0" y="3713464"/>
            <a:ext cx="9143999" cy="1058522"/>
          </a:xfrm>
          <a:prstGeom prst="rect">
            <a:avLst/>
          </a:prstGeom>
          <a:noFill/>
          <a:ln>
            <a:noFill/>
          </a:ln>
        </p:spPr>
      </p:pic>
      <p:pic>
        <p:nvPicPr>
          <p:cNvPr id="189" name="Google Shape;189;p30"/>
          <p:cNvPicPr preferRelativeResize="0"/>
          <p:nvPr/>
        </p:nvPicPr>
        <p:blipFill>
          <a:blip r:embed="rId4">
            <a:alphaModFix/>
          </a:blip>
          <a:stretch>
            <a:fillRect/>
          </a:stretch>
        </p:blipFill>
        <p:spPr>
          <a:xfrm>
            <a:off x="973475" y="1581338"/>
            <a:ext cx="7197074" cy="1719725"/>
          </a:xfrm>
          <a:prstGeom prst="rect">
            <a:avLst/>
          </a:prstGeom>
          <a:noFill/>
          <a:ln>
            <a:noFill/>
          </a:ln>
        </p:spPr>
      </p:pic>
      <p:sp>
        <p:nvSpPr>
          <p:cNvPr id="190" name="Google Shape;190;p30"/>
          <p:cNvSpPr txBox="1"/>
          <p:nvPr>
            <p:ph idx="1" type="body"/>
          </p:nvPr>
        </p:nvSpPr>
        <p:spPr>
          <a:xfrm>
            <a:off x="402413" y="3225475"/>
            <a:ext cx="8520600" cy="160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 below loop():</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 LED_blink()</a:t>
            </a:r>
            <a:endParaRPr/>
          </a:p>
        </p:txBody>
      </p:sp>
      <p:sp>
        <p:nvSpPr>
          <p:cNvPr id="196" name="Google Shape;196;p31"/>
          <p:cNvSpPr txBox="1"/>
          <p:nvPr>
            <p:ph idx="1" type="body"/>
          </p:nvPr>
        </p:nvSpPr>
        <p:spPr>
          <a:xfrm>
            <a:off x="311700" y="1152475"/>
            <a:ext cx="8520600" cy="245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Add below LED_do_nothing():</a:t>
            </a:r>
            <a:endParaRPr/>
          </a:p>
        </p:txBody>
      </p:sp>
      <p:pic>
        <p:nvPicPr>
          <p:cNvPr id="197" name="Google Shape;197;p31"/>
          <p:cNvPicPr preferRelativeResize="0"/>
          <p:nvPr/>
        </p:nvPicPr>
        <p:blipFill>
          <a:blip r:embed="rId3">
            <a:alphaModFix/>
          </a:blip>
          <a:stretch>
            <a:fillRect/>
          </a:stretch>
        </p:blipFill>
        <p:spPr>
          <a:xfrm>
            <a:off x="311700" y="1893325"/>
            <a:ext cx="11063150" cy="2361200"/>
          </a:xfrm>
          <a:prstGeom prst="rect">
            <a:avLst/>
          </a:prstGeom>
          <a:noFill/>
          <a:ln>
            <a:noFill/>
          </a:ln>
        </p:spPr>
      </p:pic>
      <p:sp>
        <p:nvSpPr>
          <p:cNvPr id="198" name="Google Shape;198;p31"/>
          <p:cNvSpPr txBox="1"/>
          <p:nvPr>
            <p:ph idx="1" type="body"/>
          </p:nvPr>
        </p:nvSpPr>
        <p:spPr>
          <a:xfrm>
            <a:off x="311700" y="3739125"/>
            <a:ext cx="8520600" cy="160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 LED_flash()</a:t>
            </a:r>
            <a:endParaRPr/>
          </a:p>
        </p:txBody>
      </p:sp>
      <p:sp>
        <p:nvSpPr>
          <p:cNvPr id="204" name="Google Shape;204;p32"/>
          <p:cNvSpPr txBox="1"/>
          <p:nvPr>
            <p:ph idx="1" type="body"/>
          </p:nvPr>
        </p:nvSpPr>
        <p:spPr>
          <a:xfrm>
            <a:off x="311700" y="1152475"/>
            <a:ext cx="4030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 below LED_blink():</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This function is a more complicated version of LED_blink(), stepping the delay times up and down to make the light appear to be getting brighter and dimmer.</a:t>
            </a:r>
            <a:endParaRPr/>
          </a:p>
        </p:txBody>
      </p:sp>
      <p:pic>
        <p:nvPicPr>
          <p:cNvPr id="205" name="Google Shape;205;p32"/>
          <p:cNvPicPr preferRelativeResize="0"/>
          <p:nvPr/>
        </p:nvPicPr>
        <p:blipFill>
          <a:blip r:embed="rId3">
            <a:alphaModFix/>
          </a:blip>
          <a:stretch>
            <a:fillRect/>
          </a:stretch>
        </p:blipFill>
        <p:spPr>
          <a:xfrm>
            <a:off x="4572000" y="101300"/>
            <a:ext cx="4170624" cy="49409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Serial Monitor</a:t>
            </a:r>
            <a:endParaRPr/>
          </a:p>
        </p:txBody>
      </p:sp>
      <p:sp>
        <p:nvSpPr>
          <p:cNvPr id="211" name="Google Shape;211;p33"/>
          <p:cNvSpPr txBox="1"/>
          <p:nvPr>
            <p:ph idx="1" type="body"/>
          </p:nvPr>
        </p:nvSpPr>
        <p:spPr>
          <a:xfrm>
            <a:off x="311700" y="1152475"/>
            <a:ext cx="8520600" cy="161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When debugging, it’s helpful to be able to see your data. Arduino IDE has a serial monitor terminal for this. We can add print() statements to our program to see where our CPU is in the code even if the circuit isn’t working the way we want it to.</a:t>
            </a:r>
            <a:endParaRPr/>
          </a:p>
          <a:p>
            <a:pPr indent="0" lvl="0" marL="0" rtl="0" algn="l">
              <a:spcBef>
                <a:spcPts val="1200"/>
              </a:spcBef>
              <a:spcAft>
                <a:spcPts val="1200"/>
              </a:spcAft>
              <a:buNone/>
            </a:pPr>
            <a:r>
              <a:rPr lang="en"/>
              <a:t>Add in setup(): </a:t>
            </a:r>
            <a:endParaRPr/>
          </a:p>
        </p:txBody>
      </p:sp>
      <p:pic>
        <p:nvPicPr>
          <p:cNvPr id="212" name="Google Shape;212;p33"/>
          <p:cNvPicPr preferRelativeResize="0"/>
          <p:nvPr/>
        </p:nvPicPr>
        <p:blipFill>
          <a:blip r:embed="rId3">
            <a:alphaModFix/>
          </a:blip>
          <a:stretch>
            <a:fillRect/>
          </a:stretch>
        </p:blipFill>
        <p:spPr>
          <a:xfrm>
            <a:off x="152400" y="2766913"/>
            <a:ext cx="8839199" cy="187524"/>
          </a:xfrm>
          <a:prstGeom prst="rect">
            <a:avLst/>
          </a:prstGeom>
          <a:noFill/>
          <a:ln>
            <a:noFill/>
          </a:ln>
        </p:spPr>
      </p:pic>
      <p:sp>
        <p:nvSpPr>
          <p:cNvPr id="213" name="Google Shape;213;p33"/>
          <p:cNvSpPr txBox="1"/>
          <p:nvPr>
            <p:ph idx="1" type="body"/>
          </p:nvPr>
        </p:nvSpPr>
        <p:spPr>
          <a:xfrm>
            <a:off x="311700" y="2954425"/>
            <a:ext cx="8520600" cy="161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 to the start of each of your functions (change what it says for each one):</a:t>
            </a:r>
            <a:endParaRPr/>
          </a:p>
          <a:p>
            <a:pPr indent="0" lvl="0" marL="0" rtl="0" algn="l">
              <a:spcBef>
                <a:spcPts val="1200"/>
              </a:spcBef>
              <a:spcAft>
                <a:spcPts val="1200"/>
              </a:spcAft>
              <a:buNone/>
            </a:pPr>
            <a:r>
              <a:t/>
            </a:r>
            <a:endParaRPr/>
          </a:p>
        </p:txBody>
      </p:sp>
      <p:pic>
        <p:nvPicPr>
          <p:cNvPr id="214" name="Google Shape;214;p33"/>
          <p:cNvPicPr preferRelativeResize="0"/>
          <p:nvPr/>
        </p:nvPicPr>
        <p:blipFill>
          <a:blip r:embed="rId4">
            <a:alphaModFix/>
          </a:blip>
          <a:stretch>
            <a:fillRect/>
          </a:stretch>
        </p:blipFill>
        <p:spPr>
          <a:xfrm>
            <a:off x="2319338" y="3469711"/>
            <a:ext cx="4505325" cy="219075"/>
          </a:xfrm>
          <a:prstGeom prst="rect">
            <a:avLst/>
          </a:prstGeom>
          <a:noFill/>
          <a:ln>
            <a:noFill/>
          </a:ln>
        </p:spPr>
      </p:pic>
      <p:sp>
        <p:nvSpPr>
          <p:cNvPr id="215" name="Google Shape;215;p33"/>
          <p:cNvSpPr txBox="1"/>
          <p:nvPr>
            <p:ph idx="1" type="body"/>
          </p:nvPr>
        </p:nvSpPr>
        <p:spPr>
          <a:xfrm>
            <a:off x="311700" y="3809725"/>
            <a:ext cx="8520600" cy="161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And finally, start the first function at the end of setup():</a:t>
            </a:r>
            <a:endParaRPr/>
          </a:p>
          <a:p>
            <a:pPr indent="0" lvl="0" marL="0" rtl="0" algn="l">
              <a:spcBef>
                <a:spcPts val="1200"/>
              </a:spcBef>
              <a:spcAft>
                <a:spcPts val="1200"/>
              </a:spcAft>
              <a:buNone/>
            </a:pPr>
            <a:r>
              <a:t/>
            </a:r>
            <a:endParaRPr/>
          </a:p>
        </p:txBody>
      </p:sp>
      <p:pic>
        <p:nvPicPr>
          <p:cNvPr id="216" name="Google Shape;216;p33"/>
          <p:cNvPicPr preferRelativeResize="0"/>
          <p:nvPr/>
        </p:nvPicPr>
        <p:blipFill>
          <a:blip r:embed="rId5">
            <a:alphaModFix/>
          </a:blip>
          <a:stretch>
            <a:fillRect/>
          </a:stretch>
        </p:blipFill>
        <p:spPr>
          <a:xfrm>
            <a:off x="380485" y="4569033"/>
            <a:ext cx="8383027" cy="277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Verify and Upload Your Sketch</a:t>
            </a:r>
            <a:endParaRPr/>
          </a:p>
        </p:txBody>
      </p:sp>
      <p:sp>
        <p:nvSpPr>
          <p:cNvPr id="222" name="Google Shape;222;p34"/>
          <p:cNvSpPr txBox="1"/>
          <p:nvPr>
            <p:ph idx="1" type="body"/>
          </p:nvPr>
        </p:nvSpPr>
        <p:spPr>
          <a:xfrm>
            <a:off x="311700" y="1152475"/>
            <a:ext cx="4559700" cy="3782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Click check mark to verify your code, then upload it once it’s error-free.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Press the button on the breadboard to cycle between the LED states.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Click the magnifying glass icon in your IDE to see your print() statements the serial monitor.</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Make your own custom LED state!</a:t>
            </a:r>
            <a:endParaRPr/>
          </a:p>
        </p:txBody>
      </p:sp>
      <p:pic>
        <p:nvPicPr>
          <p:cNvPr id="223" name="Google Shape;223;p34"/>
          <p:cNvPicPr preferRelativeResize="0"/>
          <p:nvPr/>
        </p:nvPicPr>
        <p:blipFill>
          <a:blip r:embed="rId3">
            <a:alphaModFix/>
          </a:blip>
          <a:stretch>
            <a:fillRect/>
          </a:stretch>
        </p:blipFill>
        <p:spPr>
          <a:xfrm>
            <a:off x="4970850" y="1236813"/>
            <a:ext cx="3314700" cy="885825"/>
          </a:xfrm>
          <a:prstGeom prst="rect">
            <a:avLst/>
          </a:prstGeom>
          <a:noFill/>
          <a:ln>
            <a:noFill/>
          </a:ln>
        </p:spPr>
      </p:pic>
      <p:pic>
        <p:nvPicPr>
          <p:cNvPr id="224" name="Google Shape;224;p34"/>
          <p:cNvPicPr preferRelativeResize="0"/>
          <p:nvPr/>
        </p:nvPicPr>
        <p:blipFill>
          <a:blip r:embed="rId4">
            <a:alphaModFix/>
          </a:blip>
          <a:stretch>
            <a:fillRect/>
          </a:stretch>
        </p:blipFill>
        <p:spPr>
          <a:xfrm>
            <a:off x="5694750" y="2894938"/>
            <a:ext cx="2590800" cy="1457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
        <p:nvSpPr>
          <p:cNvPr id="230" name="Google Shape;230;p35"/>
          <p:cNvSpPr txBox="1"/>
          <p:nvPr>
            <p:ph idx="1" type="body"/>
          </p:nvPr>
        </p:nvSpPr>
        <p:spPr>
          <a:xfrm>
            <a:off x="311700" y="1152475"/>
            <a:ext cx="8520600" cy="379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What are the limitations of this program? How could it be done more efficiently?</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2) In the serial monitor, you might see the "Button press detected" message appear multiple times with every button press. Why is this happening? How could it be fixed?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3) In the circuit, why is there a resistor that attaches the button output to ground?</a:t>
            </a:r>
            <a:endParaRPr/>
          </a:p>
        </p:txBody>
      </p:sp>
      <p:sp>
        <p:nvSpPr>
          <p:cNvPr id="231" name="Google Shape;231;p35"/>
          <p:cNvSpPr txBox="1"/>
          <p:nvPr>
            <p:ph idx="1" type="body"/>
          </p:nvPr>
        </p:nvSpPr>
        <p:spPr>
          <a:xfrm>
            <a:off x="448200" y="1481400"/>
            <a:ext cx="8520600" cy="8379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
                <a:solidFill>
                  <a:srgbClr val="FF0000"/>
                </a:solidFill>
              </a:rPr>
              <a:t>- LED "flash" stuttering is </a:t>
            </a:r>
            <a:r>
              <a:rPr lang="en">
                <a:solidFill>
                  <a:srgbClr val="FF0000"/>
                </a:solidFill>
              </a:rPr>
              <a:t>noticeable</a:t>
            </a:r>
            <a:r>
              <a:rPr lang="en">
                <a:solidFill>
                  <a:srgbClr val="FF0000"/>
                </a:solidFill>
              </a:rPr>
              <a:t> (not true pulse-width modulation).</a:t>
            </a:r>
            <a:endParaRPr>
              <a:solidFill>
                <a:srgbClr val="FF0000"/>
              </a:solidFill>
            </a:endParaRPr>
          </a:p>
          <a:p>
            <a:pPr indent="0" lvl="0" marL="0" rtl="0" algn="l">
              <a:lnSpc>
                <a:spcPct val="100000"/>
              </a:lnSpc>
              <a:spcBef>
                <a:spcPts val="1200"/>
              </a:spcBef>
              <a:spcAft>
                <a:spcPts val="1200"/>
              </a:spcAft>
              <a:buNone/>
            </a:pPr>
            <a:r>
              <a:rPr lang="en">
                <a:solidFill>
                  <a:srgbClr val="FF0000"/>
                </a:solidFill>
              </a:rPr>
              <a:t>- "running_mode" exits the loop inside the function AFTER it finishes; it doesn't switch right away like an interrupt normally would.</a:t>
            </a:r>
            <a:endParaRPr>
              <a:solidFill>
                <a:srgbClr val="FF0000"/>
              </a:solidFill>
            </a:endParaRPr>
          </a:p>
        </p:txBody>
      </p:sp>
      <p:sp>
        <p:nvSpPr>
          <p:cNvPr id="232" name="Google Shape;232;p35"/>
          <p:cNvSpPr txBox="1"/>
          <p:nvPr>
            <p:ph idx="1" type="body"/>
          </p:nvPr>
        </p:nvSpPr>
        <p:spPr>
          <a:xfrm>
            <a:off x="327875" y="3070100"/>
            <a:ext cx="8657100" cy="837900"/>
          </a:xfrm>
          <a:prstGeom prst="rect">
            <a:avLst/>
          </a:prstGeom>
        </p:spPr>
        <p:txBody>
          <a:bodyPr anchorCtr="0" anchor="t" bIns="91425" lIns="91425" spcFirstLastPara="1" rIns="91425" wrap="square" tIns="91425">
            <a:normAutofit fontScale="92500"/>
          </a:bodyPr>
          <a:lstStyle/>
          <a:p>
            <a:pPr indent="0" lvl="0" marL="0" rtl="0" algn="l">
              <a:lnSpc>
                <a:spcPct val="70000"/>
              </a:lnSpc>
              <a:spcBef>
                <a:spcPts val="0"/>
              </a:spcBef>
              <a:spcAft>
                <a:spcPts val="0"/>
              </a:spcAft>
              <a:buNone/>
            </a:pPr>
            <a:r>
              <a:rPr lang="en">
                <a:solidFill>
                  <a:srgbClr val="FF0000"/>
                </a:solidFill>
              </a:rPr>
              <a:t>   - The button is actually bouncing up and down, and the sensitive voltage spikes are</a:t>
            </a:r>
            <a:endParaRPr>
              <a:solidFill>
                <a:srgbClr val="FF0000"/>
              </a:solidFill>
            </a:endParaRPr>
          </a:p>
          <a:p>
            <a:pPr indent="0" lvl="0" marL="0" rtl="0" algn="l">
              <a:lnSpc>
                <a:spcPct val="70000"/>
              </a:lnSpc>
              <a:spcBef>
                <a:spcPts val="1200"/>
              </a:spcBef>
              <a:spcAft>
                <a:spcPts val="1200"/>
              </a:spcAft>
              <a:buNone/>
            </a:pPr>
            <a:r>
              <a:rPr lang="en">
                <a:solidFill>
                  <a:srgbClr val="FF0000"/>
                </a:solidFill>
              </a:rPr>
              <a:t>    being picked up. Need to enable "debouncing" in either the hardware or software.</a:t>
            </a:r>
            <a:endParaRPr>
              <a:solidFill>
                <a:srgbClr val="FF0000"/>
              </a:solidFill>
            </a:endParaRPr>
          </a:p>
        </p:txBody>
      </p:sp>
      <p:sp>
        <p:nvSpPr>
          <p:cNvPr id="233" name="Google Shape;233;p35"/>
          <p:cNvSpPr txBox="1"/>
          <p:nvPr>
            <p:ph idx="1" type="body"/>
          </p:nvPr>
        </p:nvSpPr>
        <p:spPr>
          <a:xfrm>
            <a:off x="448200" y="4111975"/>
            <a:ext cx="8384100" cy="837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1200"/>
              </a:spcAft>
              <a:buNone/>
            </a:pPr>
            <a:r>
              <a:rPr lang="en">
                <a:solidFill>
                  <a:srgbClr val="FF0000"/>
                </a:solidFill>
              </a:rPr>
              <a:t>   - “Pull-down” resistor stabilizes the voltage when the button isn’t being pressed, so it doesn’t read “nothing” and give bad values</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6" title="tbh-creature.gif"/>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9" name="Google Shape;23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Thanks For Coming</a:t>
            </a:r>
            <a:endParaRPr/>
          </a:p>
        </p:txBody>
      </p:sp>
      <p:sp>
        <p:nvSpPr>
          <p:cNvPr id="240" name="Google Shape;24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